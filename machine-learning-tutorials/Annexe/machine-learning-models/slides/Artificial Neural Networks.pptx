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7"/>
  </p:notesMasterIdLst>
  <p:sldIdLst>
    <p:sldId id="256" r:id="rId2"/>
    <p:sldId id="257" r:id="rId3"/>
    <p:sldId id="316" r:id="rId4"/>
    <p:sldId id="409" r:id="rId5"/>
    <p:sldId id="397" r:id="rId6"/>
    <p:sldId id="398" r:id="rId7"/>
    <p:sldId id="399" r:id="rId8"/>
    <p:sldId id="386" r:id="rId9"/>
    <p:sldId id="400" r:id="rId10"/>
    <p:sldId id="410" r:id="rId11"/>
    <p:sldId id="411" r:id="rId12"/>
    <p:sldId id="401" r:id="rId13"/>
    <p:sldId id="413" r:id="rId14"/>
    <p:sldId id="412" r:id="rId15"/>
    <p:sldId id="38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249" autoAdjust="0"/>
  </p:normalViewPr>
  <p:slideViewPr>
    <p:cSldViewPr snapToGrid="0">
      <p:cViewPr>
        <p:scale>
          <a:sx n="120" d="100"/>
          <a:sy n="120" d="100"/>
        </p:scale>
        <p:origin x="216" y="-450"/>
      </p:cViewPr>
      <p:guideLst/>
    </p:cSldViewPr>
  </p:slideViewPr>
  <p:outlineViewPr>
    <p:cViewPr>
      <p:scale>
        <a:sx n="33" d="100"/>
        <a:sy n="33" d="100"/>
      </p:scale>
      <p:origin x="0" y="-307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4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A5ACA-2728-446F-B902-69F517DD09EF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9AA88-D2BF-432A-9E48-DEB452C2974D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6333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AA88-D2BF-432A-9E48-DEB452C2974D}" type="slidenum">
              <a:rPr lang="fr-BE" smtClean="0"/>
              <a:t>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04419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06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265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029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5233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1916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5542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1779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9800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6398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9760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7860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7401279-C1D6-4E6E-8029-998180654F26}" type="datetimeFigureOut">
              <a:rPr lang="fr-BE" smtClean="0"/>
              <a:t>13-06-23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8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B8652D-1FB2-44D1-95C2-1F75A20E0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pPr algn="r"/>
            <a:r>
              <a:rPr lang="en-ZA" dirty="0">
                <a:solidFill>
                  <a:srgbClr val="FFFFFF"/>
                </a:solidFill>
              </a:rPr>
              <a:t>Artificial Neural Networks</a:t>
            </a:r>
            <a:br>
              <a:rPr lang="en-ZA" dirty="0">
                <a:solidFill>
                  <a:srgbClr val="FFFFFF"/>
                </a:solidFill>
              </a:rPr>
            </a:br>
            <a:r>
              <a:rPr lang="en-ZA" sz="3600" dirty="0">
                <a:solidFill>
                  <a:srgbClr val="FFFFFF"/>
                </a:solidFill>
              </a:rPr>
              <a:t>	“Universal Approximators”</a:t>
            </a:r>
            <a:endParaRPr lang="fr-BE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46133-36F7-4469-A976-1D6A2AB9B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rgbClr val="FFFFFF"/>
                </a:solidFill>
              </a:rPr>
              <a:t>Dr Yves Matanga</a:t>
            </a:r>
            <a:endParaRPr lang="fr-B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828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16E8-3821-49D8-9069-D3F7988A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Outline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FA1DD-04DB-4FB2-8FDA-DEDA0A857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ZA" sz="3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3400" dirty="0"/>
              <a:t>Artificial Neural Networks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ZA" sz="3000" dirty="0"/>
              <a:t>Theory and Practice</a:t>
            </a:r>
          </a:p>
          <a:p>
            <a:endParaRPr lang="en-ZA" sz="3600" dirty="0"/>
          </a:p>
        </p:txBody>
      </p:sp>
    </p:spTree>
    <p:extLst>
      <p:ext uri="{BB962C8B-B14F-4D97-AF65-F5344CB8AC3E}">
        <p14:creationId xmlns:p14="http://schemas.microsoft.com/office/powerpoint/2010/main" val="1632631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ZA" dirty="0"/>
              <a:t>Artificial Neural Networks</a:t>
            </a:r>
            <a:endParaRPr lang="fr-BE"/>
          </a:p>
        </p:txBody>
      </p:sp>
      <p:pic>
        <p:nvPicPr>
          <p:cNvPr id="2" name="Picture 1" descr="A diagram of a cell body&#10;&#10;Description automatically generated with low confidence">
            <a:extLst>
              <a:ext uri="{FF2B5EF4-FFF2-40B4-BE49-F238E27FC236}">
                <a16:creationId xmlns:a16="http://schemas.microsoft.com/office/drawing/2014/main" id="{E4229B04-3C8E-25BC-FE8B-03645E7CE7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25"/>
          <a:stretch/>
        </p:blipFill>
        <p:spPr bwMode="auto">
          <a:xfrm>
            <a:off x="643192" y="1119752"/>
            <a:ext cx="5451627" cy="4298455"/>
          </a:xfrm>
          <a:prstGeom prst="rect">
            <a:avLst/>
          </a:prstGeom>
          <a:noFill/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rgbClr val="FF0000"/>
                </a:solidFill>
              </a:rPr>
              <a:t>ANNs</a:t>
            </a:r>
            <a:r>
              <a:rPr lang="en-ZA" dirty="0"/>
              <a:t> are neural computation systems proposed originally by </a:t>
            </a:r>
            <a:r>
              <a:rPr lang="en-ZA" dirty="0" err="1"/>
              <a:t>McCullock</a:t>
            </a:r>
            <a:r>
              <a:rPr lang="en-ZA" dirty="0"/>
              <a:t> and Pitts (1943) and Metropolis et al (1953). They are inspired from the learning mechanism of the </a:t>
            </a:r>
            <a:r>
              <a:rPr lang="en-ZA" dirty="0">
                <a:solidFill>
                  <a:srgbClr val="FF0000"/>
                </a:solidFill>
              </a:rPr>
              <a:t>brain</a:t>
            </a:r>
            <a:r>
              <a:rPr lang="en-ZA" dirty="0"/>
              <a:t> and shares high level similarities with </a:t>
            </a:r>
            <a:r>
              <a:rPr lang="en-ZA" dirty="0">
                <a:solidFill>
                  <a:srgbClr val="FF0000"/>
                </a:solidFill>
              </a:rPr>
              <a:t>biological</a:t>
            </a:r>
            <a:r>
              <a:rPr lang="en-ZA" dirty="0"/>
              <a:t> neural networks.</a:t>
            </a:r>
            <a:endParaRPr lang="en-ZA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270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ZA" dirty="0"/>
              <a:t>A Biological Neuron</a:t>
            </a:r>
            <a:endParaRPr lang="fr-BE" dirty="0"/>
          </a:p>
        </p:txBody>
      </p:sp>
      <p:pic>
        <p:nvPicPr>
          <p:cNvPr id="2" name="Picture 1" descr="A diagram of a cell body&#10;&#10;Description automatically generated with low confidence">
            <a:extLst>
              <a:ext uri="{FF2B5EF4-FFF2-40B4-BE49-F238E27FC236}">
                <a16:creationId xmlns:a16="http://schemas.microsoft.com/office/drawing/2014/main" id="{E4229B04-3C8E-25BC-FE8B-03645E7CE7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44"/>
          <a:stretch/>
        </p:blipFill>
        <p:spPr bwMode="auto">
          <a:xfrm>
            <a:off x="643193" y="1119752"/>
            <a:ext cx="5390128" cy="4298455"/>
          </a:xfrm>
          <a:prstGeom prst="rect">
            <a:avLst/>
          </a:prstGeom>
          <a:noFill/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 fontScale="85000" lnSpcReduction="20000"/>
          </a:bodyPr>
          <a:lstStyle/>
          <a:p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biological neuron will have four important parts:</a:t>
            </a:r>
          </a:p>
          <a:p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nucleus or cell body,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axon,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Synapses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Dendrites. </a:t>
            </a:r>
          </a:p>
          <a:p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 process information using electrochemical signals. Dendrites are entry points of information (electric signals) from other neurons. The axon is a long projection of the cell body through which information comes out of the neuron. Synapses are in between junctions across which information passes from neuron to another (axon-dendrite, axon-axon, axon-soma(nucleus)). </a:t>
            </a:r>
            <a:endParaRPr lang="en-ZA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EC8F652-8CC7-C7BC-6DEE-EF10205CB8B1}"/>
              </a:ext>
            </a:extLst>
          </p:cNvPr>
          <p:cNvSpPr/>
          <p:nvPr/>
        </p:nvSpPr>
        <p:spPr>
          <a:xfrm>
            <a:off x="2429435" y="2617694"/>
            <a:ext cx="833718" cy="6992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287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pPr algn="ctr"/>
            <a:r>
              <a:rPr lang="en-ZA" dirty="0"/>
              <a:t>Artificial Neurons vs Biological Neurons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ZA" sz="2800" b="1" dirty="0"/>
          </a:p>
          <a:p>
            <a:pPr marL="384048" lvl="2" indent="0">
              <a:buNone/>
            </a:pPr>
            <a:r>
              <a:rPr lang="en-ZA" sz="1600" b="1" dirty="0"/>
              <a:t>				</a:t>
            </a:r>
          </a:p>
          <a:p>
            <a:pPr lvl="5"/>
            <a:endParaRPr lang="fr-BE" sz="2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C1FE25-5083-6ED4-3E7F-9A01808EB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676" y="1989457"/>
            <a:ext cx="5724525" cy="20859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C5A4E0-9E7E-6B4B-6629-B6E877E1A445}"/>
                  </a:ext>
                </a:extLst>
              </p:cNvPr>
              <p:cNvSpPr txBox="1"/>
              <p:nvPr/>
            </p:nvSpPr>
            <p:spPr>
              <a:xfrm>
                <a:off x="475129" y="4470409"/>
                <a:ext cx="6096000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ZA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ZA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Z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ZA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ZA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ZA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ZA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ZA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ZA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ZA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ZA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ZA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Z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C5A4E0-9E7E-6B4B-6629-B6E877E1A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29" y="4470409"/>
                <a:ext cx="6096000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6D1180-E073-C19C-C537-A653987C14D8}"/>
                  </a:ext>
                </a:extLst>
              </p:cNvPr>
              <p:cNvSpPr txBox="1"/>
              <p:nvPr/>
            </p:nvSpPr>
            <p:spPr>
              <a:xfrm>
                <a:off x="5468471" y="4649183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ZA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’s are the input variables (dendrites),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Z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ZA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’s are the variable weights (synapses), f is the activation function and </a:t>
                </a:r>
                <a14:m>
                  <m:oMath xmlns:m="http://schemas.openxmlformats.org/officeDocument/2006/math">
                    <m:r>
                      <a:rPr lang="en-Z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Z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ZA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the final output. </a:t>
                </a:r>
                <a:endParaRPr lang="en-ZA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6D1180-E073-C19C-C537-A653987C1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471" y="4649183"/>
                <a:ext cx="6096000" cy="923330"/>
              </a:xfrm>
              <a:prstGeom prst="rect">
                <a:avLst/>
              </a:prstGeom>
              <a:blipFill>
                <a:blip r:embed="rId4"/>
                <a:stretch>
                  <a:fillRect l="-800" t="-3974" b="-993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05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pPr algn="ctr"/>
            <a:r>
              <a:rPr lang="en-ZA" u="sng" dirty="0"/>
              <a:t>Multilayer Perceptions </a:t>
            </a:r>
            <a:r>
              <a:rPr lang="en-ZA" dirty="0"/>
              <a:t>(MLP)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515" y="2163333"/>
            <a:ext cx="10058400" cy="4023360"/>
          </a:xfrm>
        </p:spPr>
        <p:txBody>
          <a:bodyPr>
            <a:normAutofit/>
          </a:bodyPr>
          <a:lstStyle/>
          <a:p>
            <a:endParaRPr lang="en-ZA" sz="2800" b="1" dirty="0"/>
          </a:p>
          <a:p>
            <a:pPr marL="871400" lvl="5" indent="0">
              <a:buNone/>
            </a:pPr>
            <a:r>
              <a:rPr lang="fr-BE" sz="2200" dirty="0"/>
              <a:t>	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023FB-AACF-E541-107C-68E746C39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80" y="2625613"/>
            <a:ext cx="5731510" cy="35610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FED1596E-FE07-7799-9CD0-889F5F7A83AE}"/>
              </a:ext>
            </a:extLst>
          </p:cNvPr>
          <p:cNvSpPr txBox="1">
            <a:spLocks/>
          </p:cNvSpPr>
          <p:nvPr/>
        </p:nvSpPr>
        <p:spPr>
          <a:xfrm>
            <a:off x="6209590" y="1927412"/>
            <a:ext cx="5329266" cy="394168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Also </a:t>
            </a:r>
            <a:r>
              <a:rPr lang="en-ZA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called </a:t>
            </a:r>
            <a:r>
              <a:rPr lang="en-ZA" sz="1800" u="sng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multilayer feed-forward </a:t>
            </a:r>
            <a:r>
              <a:rPr lang="en-ZA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neural networks 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very popular ANNs that are used for a wide variety of problems. They can be used for both regression and classification </a:t>
            </a:r>
          </a:p>
          <a:p>
            <a:endParaRPr lang="en-ZA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ZA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Feedforward networks comprises of three main layers: the </a:t>
            </a:r>
            <a:r>
              <a:rPr lang="en-ZA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layers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comprises input variables only. The </a:t>
            </a:r>
            <a:r>
              <a:rPr lang="en-ZA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hidden layer(s) 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 contain(s) the set of neuronal of which is fed all the output of the previous layer equitable, each having a </a:t>
            </a:r>
            <a:r>
              <a:rPr lang="en-ZA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terminal activation 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and the </a:t>
            </a:r>
            <a:r>
              <a:rPr lang="en-ZA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layer(s) 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</a:t>
            </a:r>
            <a:r>
              <a:rPr lang="en-ZA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comprise(s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of terminal neurons that produce the output.</a:t>
            </a:r>
          </a:p>
          <a:p>
            <a:endParaRPr lang="en-ZA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CD882F6-3E88-4503-966E-D3E1C665DDDC}"/>
              </a:ext>
            </a:extLst>
          </p:cNvPr>
          <p:cNvSpPr/>
          <p:nvPr/>
        </p:nvSpPr>
        <p:spPr>
          <a:xfrm>
            <a:off x="2868561" y="5368413"/>
            <a:ext cx="1614949" cy="10542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6407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pPr algn="ctr"/>
            <a:r>
              <a:rPr lang="en-ZA" dirty="0"/>
              <a:t>Activations Functions in MLP Models</a:t>
            </a:r>
            <a:endParaRPr lang="fr-BE" dirty="0"/>
          </a:p>
        </p:txBody>
      </p:sp>
      <p:pic>
        <p:nvPicPr>
          <p:cNvPr id="4" name="Content Placeholder 3" descr="A picture containing line, diagram, plot&#10;&#10;Description automatically generated">
            <a:extLst>
              <a:ext uri="{FF2B5EF4-FFF2-40B4-BE49-F238E27FC236}">
                <a16:creationId xmlns:a16="http://schemas.microsoft.com/office/drawing/2014/main" id="{0A31CEE2-DF78-9C9B-D506-4D826138D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7510" y="2720388"/>
            <a:ext cx="5724640" cy="223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picture containing line, diagram, plot, parallel&#10;&#10;Description automatically generated">
            <a:extLst>
              <a:ext uri="{FF2B5EF4-FFF2-40B4-BE49-F238E27FC236}">
                <a16:creationId xmlns:a16="http://schemas.microsoft.com/office/drawing/2014/main" id="{2B8F382B-FFA7-B3DA-1CFC-BFA7AEDFB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950" y="2875063"/>
            <a:ext cx="2304925" cy="172487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087FE92-4697-0042-4634-3F49BE3A820A}"/>
              </a:ext>
            </a:extLst>
          </p:cNvPr>
          <p:cNvSpPr/>
          <p:nvPr/>
        </p:nvSpPr>
        <p:spPr>
          <a:xfrm>
            <a:off x="4029075" y="2720388"/>
            <a:ext cx="2066925" cy="23659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F7EBB9-31D3-4DB2-C9EB-AA71CD2534F5}"/>
              </a:ext>
            </a:extLst>
          </p:cNvPr>
          <p:cNvSpPr/>
          <p:nvPr/>
        </p:nvSpPr>
        <p:spPr>
          <a:xfrm>
            <a:off x="6400800" y="2656120"/>
            <a:ext cx="2066925" cy="23659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1B9AA4-543B-815B-9243-D1A682E48B89}"/>
              </a:ext>
            </a:extLst>
          </p:cNvPr>
          <p:cNvSpPr/>
          <p:nvPr/>
        </p:nvSpPr>
        <p:spPr>
          <a:xfrm>
            <a:off x="8720252" y="2591852"/>
            <a:ext cx="2066925" cy="23659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5729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Training a MLP model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71400" lvl="5" indent="0">
              <a:buNone/>
            </a:pPr>
            <a:r>
              <a:rPr lang="fr-BE" sz="2200" b="1" dirty="0"/>
              <a:t> 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A1AE12FD-AD0B-6238-FF6A-1AF0F7A67DAD}"/>
              </a:ext>
            </a:extLst>
          </p:cNvPr>
          <p:cNvSpPr txBox="1">
            <a:spLocks/>
          </p:cNvSpPr>
          <p:nvPr/>
        </p:nvSpPr>
        <p:spPr>
          <a:xfrm>
            <a:off x="1249680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1400" lvl="5" indent="0">
              <a:buFont typeface="Calibri" pitchFamily="34" charset="0"/>
              <a:buNone/>
            </a:pPr>
            <a:r>
              <a:rPr lang="fr-BE" sz="2200" b="1"/>
              <a:t> </a:t>
            </a:r>
            <a:endParaRPr lang="fr-BE" sz="2200" b="1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2953988-E777-E459-773D-1556D2673EE0}"/>
              </a:ext>
            </a:extLst>
          </p:cNvPr>
          <p:cNvSpPr txBox="1">
            <a:spLocks/>
          </p:cNvSpPr>
          <p:nvPr/>
        </p:nvSpPr>
        <p:spPr>
          <a:xfrm>
            <a:off x="1402080" y="21505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448" lvl="1" indent="0">
              <a:buNone/>
            </a:pPr>
            <a:r>
              <a:rPr lang="fr-BE" sz="2600" dirty="0"/>
              <a:t>MLP </a:t>
            </a:r>
            <a:r>
              <a:rPr lang="en-ZA" sz="2600" dirty="0"/>
              <a:t>models</a:t>
            </a:r>
            <a:r>
              <a:rPr lang="fr-BE" sz="2600" dirty="0"/>
              <a:t> have got a larger </a:t>
            </a:r>
            <a:r>
              <a:rPr lang="fr-BE" sz="2600" noProof="1"/>
              <a:t>number</a:t>
            </a:r>
            <a:r>
              <a:rPr lang="fr-BE" sz="2600" dirty="0"/>
              <a:t> of parameters, and uses an adapted </a:t>
            </a:r>
            <a:r>
              <a:rPr lang="fr-BE" sz="2600" u="sng" dirty="0">
                <a:solidFill>
                  <a:srgbClr val="FF0000"/>
                </a:solidFill>
              </a:rPr>
              <a:t>gradient descent </a:t>
            </a:r>
            <a:r>
              <a:rPr lang="fr-BE" sz="2600" dirty="0"/>
              <a:t>training methodology called the « </a:t>
            </a:r>
            <a:r>
              <a:rPr lang="fr-BE" sz="2600" dirty="0">
                <a:solidFill>
                  <a:srgbClr val="92D050"/>
                </a:solidFill>
              </a:rPr>
              <a:t>backpropagation</a:t>
            </a:r>
            <a:r>
              <a:rPr lang="fr-BE" sz="2600" dirty="0"/>
              <a:t> </a:t>
            </a:r>
            <a:r>
              <a:rPr lang="fr-BE" sz="2600" dirty="0">
                <a:solidFill>
                  <a:srgbClr val="FF0000"/>
                </a:solidFill>
              </a:rPr>
              <a:t>method</a:t>
            </a:r>
            <a:r>
              <a:rPr lang="fr-BE" sz="2600" dirty="0"/>
              <a:t> »</a:t>
            </a:r>
          </a:p>
        </p:txBody>
      </p:sp>
      <p:pic>
        <p:nvPicPr>
          <p:cNvPr id="11" name="Picture 10" descr="A picture containing text, font, line, algebra&#10;&#10;Description automatically generated">
            <a:extLst>
              <a:ext uri="{FF2B5EF4-FFF2-40B4-BE49-F238E27FC236}">
                <a16:creationId xmlns:a16="http://schemas.microsoft.com/office/drawing/2014/main" id="{4ADEBF22-5021-B5A9-FFAD-62B64D271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583" y="3647148"/>
            <a:ext cx="6612191" cy="1211179"/>
          </a:xfrm>
          <a:prstGeom prst="rect">
            <a:avLst/>
          </a:prstGeom>
        </p:spPr>
      </p:pic>
      <p:pic>
        <p:nvPicPr>
          <p:cNvPr id="14" name="Picture 13" descr="A picture containing font, typography, text, line&#10;&#10;Description automatically generated">
            <a:extLst>
              <a:ext uri="{FF2B5EF4-FFF2-40B4-BE49-F238E27FC236}">
                <a16:creationId xmlns:a16="http://schemas.microsoft.com/office/drawing/2014/main" id="{D8C65889-986F-ACE9-A415-12E86C413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198" y="5226035"/>
            <a:ext cx="2607781" cy="90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42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Using a MLP for nonlinear regression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71400" lvl="5" indent="0">
              <a:buNone/>
            </a:pPr>
            <a:r>
              <a:rPr lang="fr-BE" sz="2200" b="1" dirty="0"/>
              <a:t> 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0E8ADB-CCCE-4061-9660-0F8EFEED581E}"/>
              </a:ext>
            </a:extLst>
          </p:cNvPr>
          <p:cNvSpPr txBox="1">
            <a:spLocks/>
          </p:cNvSpPr>
          <p:nvPr/>
        </p:nvSpPr>
        <p:spPr>
          <a:xfrm>
            <a:off x="1249680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448" lvl="1" indent="0">
              <a:buNone/>
            </a:pPr>
            <a:r>
              <a:rPr lang="fr-BE" sz="2600" dirty="0"/>
              <a:t>Given the a 2D dataset describing a nonlinear relationship in the data, make use of a MLP regression model to learn the inherent pattern.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80008-9858-5573-783B-FFBE5B772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225" y="2659479"/>
            <a:ext cx="5209870" cy="377172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10FC4B-7EBF-2A88-2DE4-5FFB5555B3D3}"/>
              </a:ext>
            </a:extLst>
          </p:cNvPr>
          <p:cNvCxnSpPr/>
          <p:nvPr/>
        </p:nvCxnSpPr>
        <p:spPr>
          <a:xfrm flipV="1">
            <a:off x="2752725" y="3514725"/>
            <a:ext cx="6762750" cy="1981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774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Loading the datasets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71400" lvl="5" indent="0">
              <a:buNone/>
            </a:pPr>
            <a:r>
              <a:rPr lang="fr-BE" sz="2200" b="1" dirty="0"/>
              <a:t> 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0E8ADB-CCCE-4061-9660-0F8EFEED581E}"/>
              </a:ext>
            </a:extLst>
          </p:cNvPr>
          <p:cNvSpPr txBox="1">
            <a:spLocks/>
          </p:cNvSpPr>
          <p:nvPr/>
        </p:nvSpPr>
        <p:spPr>
          <a:xfrm>
            <a:off x="1249680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448" lvl="1" indent="0">
              <a:buNone/>
            </a:pPr>
            <a:endParaRPr lang="fr-BE" sz="2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99A443-F2D9-B1EA-B58B-8C6E10032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132" y="2347419"/>
            <a:ext cx="4930868" cy="3019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FC24F0-2C8F-E318-0B4F-1CB58E333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244734"/>
            <a:ext cx="4876190" cy="35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7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A1B47C8-47A0-4A88-8830-6DEA3B5D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4BBFDD-E720-4805-A9C8-129FBBF6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Building the 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885" y="3578084"/>
            <a:ext cx="3659246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5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n-US" sz="1500" b="1" cap="all" spc="200">
                <a:solidFill>
                  <a:srgbClr val="FFFFFF"/>
                </a:solidFill>
                <a:latin typeface="+mj-lt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C4BE46-4A77-42FE-9D15-065CDB2F8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0E8ADB-CCCE-4061-9660-0F8EFEED581E}"/>
              </a:ext>
            </a:extLst>
          </p:cNvPr>
          <p:cNvSpPr txBox="1">
            <a:spLocks/>
          </p:cNvSpPr>
          <p:nvPr/>
        </p:nvSpPr>
        <p:spPr>
          <a:xfrm>
            <a:off x="1249680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448" lvl="1" indent="0">
              <a:buNone/>
            </a:pPr>
            <a:endParaRPr lang="fr-BE" sz="26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74DEA5-2D86-04FF-6AAE-4BB192FC8E5D}"/>
              </a:ext>
            </a:extLst>
          </p:cNvPr>
          <p:cNvCxnSpPr/>
          <p:nvPr/>
        </p:nvCxnSpPr>
        <p:spPr>
          <a:xfrm>
            <a:off x="1113503" y="1784555"/>
            <a:ext cx="32372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D3FD17-E64F-8959-A1F9-8685B00F7FAE}"/>
              </a:ext>
            </a:extLst>
          </p:cNvPr>
          <p:cNvCxnSpPr/>
          <p:nvPr/>
        </p:nvCxnSpPr>
        <p:spPr>
          <a:xfrm>
            <a:off x="1249680" y="3075039"/>
            <a:ext cx="7266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606D46-8712-BD70-E5A5-097FA83F4524}"/>
              </a:ext>
            </a:extLst>
          </p:cNvPr>
          <p:cNvCxnSpPr/>
          <p:nvPr/>
        </p:nvCxnSpPr>
        <p:spPr>
          <a:xfrm>
            <a:off x="3480619" y="3016045"/>
            <a:ext cx="7669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707884-C75A-8A60-30DB-683840D15E23}"/>
              </a:ext>
            </a:extLst>
          </p:cNvPr>
          <p:cNvSpPr txBox="1"/>
          <p:nvPr/>
        </p:nvSpPr>
        <p:spPr>
          <a:xfrm>
            <a:off x="3222522" y="2694646"/>
            <a:ext cx="128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(20,30,20)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350D5-9C78-4351-A462-C649390313F9}"/>
              </a:ext>
            </a:extLst>
          </p:cNvPr>
          <p:cNvSpPr txBox="1"/>
          <p:nvPr/>
        </p:nvSpPr>
        <p:spPr>
          <a:xfrm>
            <a:off x="4350773" y="3558786"/>
            <a:ext cx="168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activation_fnc</a:t>
            </a:r>
            <a:endParaRPr lang="en-Z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FBB055-BB16-55C9-BCC7-D6F1C8040E93}"/>
              </a:ext>
            </a:extLst>
          </p:cNvPr>
          <p:cNvSpPr txBox="1"/>
          <p:nvPr/>
        </p:nvSpPr>
        <p:spPr>
          <a:xfrm>
            <a:off x="5681570" y="2879312"/>
            <a:ext cx="1194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(20,30,20)</a:t>
            </a:r>
            <a:endParaRPr lang="en-ZA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0D6F2B7-9DAC-96CA-C74A-7D0D5EE1D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19" y="836506"/>
            <a:ext cx="5731565" cy="5275527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6A8EE-63CC-6DFA-7045-38967194852E}"/>
              </a:ext>
            </a:extLst>
          </p:cNvPr>
          <p:cNvCxnSpPr/>
          <p:nvPr/>
        </p:nvCxnSpPr>
        <p:spPr>
          <a:xfrm>
            <a:off x="2912806" y="1401097"/>
            <a:ext cx="877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717F76F-025C-86ED-BA9A-AB0552C60792}"/>
              </a:ext>
            </a:extLst>
          </p:cNvPr>
          <p:cNvCxnSpPr/>
          <p:nvPr/>
        </p:nvCxnSpPr>
        <p:spPr>
          <a:xfrm>
            <a:off x="1039761" y="4962832"/>
            <a:ext cx="1939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D1C40-6E5D-F308-572F-7881FE6C07E0}"/>
              </a:ext>
            </a:extLst>
          </p:cNvPr>
          <p:cNvCxnSpPr/>
          <p:nvPr/>
        </p:nvCxnSpPr>
        <p:spPr>
          <a:xfrm>
            <a:off x="1207658" y="6050179"/>
            <a:ext cx="37183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703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Fitting the model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71400" lvl="5" indent="0">
              <a:buNone/>
            </a:pPr>
            <a:r>
              <a:rPr lang="fr-BE" sz="2200" b="1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944BAF-3E82-A5E9-7B33-6DA5BB4F0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516" y="2268200"/>
            <a:ext cx="5677224" cy="411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79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The risk of overfitting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71400" lvl="5" indent="0">
              <a:buNone/>
            </a:pPr>
            <a:r>
              <a:rPr lang="fr-BE" sz="2200" b="1" dirty="0"/>
              <a:t> </a:t>
            </a:r>
          </a:p>
        </p:txBody>
      </p:sp>
      <p:pic>
        <p:nvPicPr>
          <p:cNvPr id="3074" name="Picture 2" descr="ML | Underfitting and Overfitting - GeeksforGeeks">
            <a:extLst>
              <a:ext uri="{FF2B5EF4-FFF2-40B4-BE49-F238E27FC236}">
                <a16:creationId xmlns:a16="http://schemas.microsoft.com/office/drawing/2014/main" id="{DC418FA5-140E-8DF7-5EA0-EBA247F36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" y="2085515"/>
            <a:ext cx="104775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646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Exercises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71400" lvl="5" indent="0">
              <a:buNone/>
            </a:pPr>
            <a:r>
              <a:rPr lang="fr-BE" sz="2200" b="1" dirty="0"/>
              <a:t> 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D91F3EC8-6D05-2F61-D0AA-7312A6A4AFE6}"/>
              </a:ext>
            </a:extLst>
          </p:cNvPr>
          <p:cNvSpPr txBox="1">
            <a:spLocks/>
          </p:cNvSpPr>
          <p:nvPr/>
        </p:nvSpPr>
        <p:spPr>
          <a:xfrm>
            <a:off x="6838835" y="2400255"/>
            <a:ext cx="71247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448" lvl="1" indent="0">
              <a:buNone/>
            </a:pPr>
            <a:r>
              <a:rPr lang="en-GB" sz="2600" dirty="0"/>
              <a:t>Using a </a:t>
            </a:r>
            <a:r>
              <a:rPr lang="en-GB" sz="2600" dirty="0">
                <a:solidFill>
                  <a:srgbClr val="FF0000"/>
                </a:solidFill>
              </a:rPr>
              <a:t>MLPClassifier</a:t>
            </a:r>
            <a:r>
              <a:rPr lang="en-GB" sz="2600" dirty="0"/>
              <a:t>,</a:t>
            </a:r>
          </a:p>
          <a:p>
            <a:pPr marL="155448" lvl="1" indent="0">
              <a:buNone/>
            </a:pPr>
            <a:r>
              <a:rPr lang="en-GB" sz="2600" dirty="0"/>
              <a:t> apply neural network </a:t>
            </a:r>
          </a:p>
          <a:p>
            <a:pPr marL="155448" lvl="1" indent="0">
              <a:buNone/>
            </a:pPr>
            <a:r>
              <a:rPr lang="en-GB" sz="2600" dirty="0"/>
              <a:t>to a classification problem.</a:t>
            </a:r>
            <a:endParaRPr lang="fr-BE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3E3E4-F5E3-BACB-113A-F4BC342BE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6" y="1906694"/>
            <a:ext cx="62865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25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6FB8-DCFC-40BC-B7B5-35B4EC17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67" y="2864912"/>
            <a:ext cx="10058400" cy="1450757"/>
          </a:xfrm>
        </p:spPr>
        <p:txBody>
          <a:bodyPr/>
          <a:lstStyle/>
          <a:p>
            <a:pPr algn="ctr"/>
            <a:r>
              <a:rPr lang="en-ZA" dirty="0"/>
              <a:t>THANK YOU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543F-A448-4D5E-BD37-91340EFF7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endParaRPr lang="en-US" sz="2400" dirty="0"/>
          </a:p>
          <a:p>
            <a:pPr marL="201168" lvl="1" indent="0">
              <a:buNone/>
            </a:pPr>
            <a:endParaRPr lang="en-ZA" sz="2400" dirty="0"/>
          </a:p>
          <a:p>
            <a:pPr marL="201168" lvl="1" indent="0">
              <a:buNone/>
            </a:pPr>
            <a:endParaRPr lang="en-ZA" sz="2400" dirty="0"/>
          </a:p>
          <a:p>
            <a:pPr marL="201168" lvl="1" indent="0">
              <a:buNone/>
            </a:pPr>
            <a:endParaRPr lang="en-ZA" sz="2400" dirty="0"/>
          </a:p>
          <a:p>
            <a:pPr marL="384048" lvl="2" indent="0">
              <a:buNone/>
            </a:pPr>
            <a:endParaRPr lang="en-ZA" sz="2000" dirty="0"/>
          </a:p>
          <a:p>
            <a:pPr marL="841248" lvl="2" indent="-457200">
              <a:buAutoNum type="arabicPeriod"/>
            </a:pP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37487586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3964</TotalTime>
  <Words>412</Words>
  <Application>Microsoft Office PowerPoint</Application>
  <PresentationFormat>Widescreen</PresentationFormat>
  <Paragraphs>59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Retrospect</vt:lpstr>
      <vt:lpstr>Artificial Neural Networks  “Universal Approximators”</vt:lpstr>
      <vt:lpstr>Outline</vt:lpstr>
      <vt:lpstr>Artificial Neural Networks</vt:lpstr>
      <vt:lpstr>A Biological Neuron</vt:lpstr>
      <vt:lpstr>Artificial Neurons vs Biological Neurons</vt:lpstr>
      <vt:lpstr>Multilayer Perceptions (MLP)</vt:lpstr>
      <vt:lpstr>Activations Functions in MLP Models</vt:lpstr>
      <vt:lpstr>Training a MLP model</vt:lpstr>
      <vt:lpstr>Using a MLP for nonlinear regression</vt:lpstr>
      <vt:lpstr>Loading the datasets</vt:lpstr>
      <vt:lpstr>Building the model</vt:lpstr>
      <vt:lpstr>Fitting the model</vt:lpstr>
      <vt:lpstr>The risk of overfitting</vt:lpstr>
      <vt:lpstr>Exercises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analytical Theory and Methods: Clustering  “Grouping similar objects”</dc:title>
  <dc:creator>Yves Matanga</dc:creator>
  <cp:lastModifiedBy>Yves Matanga</cp:lastModifiedBy>
  <cp:revision>108</cp:revision>
  <dcterms:created xsi:type="dcterms:W3CDTF">2020-05-02T06:44:21Z</dcterms:created>
  <dcterms:modified xsi:type="dcterms:W3CDTF">2023-06-14T10:00:54Z</dcterms:modified>
</cp:coreProperties>
</file>