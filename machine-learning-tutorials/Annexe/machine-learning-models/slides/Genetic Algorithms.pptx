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9" r:id="rId1"/>
  </p:sldMasterIdLst>
  <p:notesMasterIdLst>
    <p:notesMasterId r:id="rId26"/>
  </p:notesMasterIdLst>
  <p:sldIdLst>
    <p:sldId id="256" r:id="rId2"/>
    <p:sldId id="257" r:id="rId3"/>
    <p:sldId id="316" r:id="rId4"/>
    <p:sldId id="397" r:id="rId5"/>
    <p:sldId id="398" r:id="rId6"/>
    <p:sldId id="399" r:id="rId7"/>
    <p:sldId id="386" r:id="rId8"/>
    <p:sldId id="413" r:id="rId9"/>
    <p:sldId id="400" r:id="rId10"/>
    <p:sldId id="414" r:id="rId11"/>
    <p:sldId id="401" r:id="rId12"/>
    <p:sldId id="415" r:id="rId13"/>
    <p:sldId id="416" r:id="rId14"/>
    <p:sldId id="364" r:id="rId15"/>
    <p:sldId id="402" r:id="rId16"/>
    <p:sldId id="403" r:id="rId17"/>
    <p:sldId id="407" r:id="rId18"/>
    <p:sldId id="417" r:id="rId19"/>
    <p:sldId id="418" r:id="rId20"/>
    <p:sldId id="419" r:id="rId21"/>
    <p:sldId id="420" r:id="rId22"/>
    <p:sldId id="406" r:id="rId23"/>
    <p:sldId id="408" r:id="rId24"/>
    <p:sldId id="383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94" autoAdjust="0"/>
    <p:restoredTop sz="94249" autoAdjust="0"/>
  </p:normalViewPr>
  <p:slideViewPr>
    <p:cSldViewPr snapToGrid="0">
      <p:cViewPr varScale="1">
        <p:scale>
          <a:sx n="61" d="100"/>
          <a:sy n="61" d="100"/>
        </p:scale>
        <p:origin x="174" y="66"/>
      </p:cViewPr>
      <p:guideLst/>
    </p:cSldViewPr>
  </p:slideViewPr>
  <p:outlineViewPr>
    <p:cViewPr>
      <p:scale>
        <a:sx n="33" d="100"/>
        <a:sy n="33" d="100"/>
      </p:scale>
      <p:origin x="0" y="-3075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946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BE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EA5ACA-2728-446F-B902-69F517DD09EF}" type="datetimeFigureOut">
              <a:rPr lang="fr-BE" smtClean="0"/>
              <a:t>08-11-23</a:t>
            </a:fld>
            <a:endParaRPr lang="fr-BE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BE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BE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79AA88-D2BF-432A-9E48-DEB452C2974D}" type="slidenum">
              <a:rPr lang="fr-BE" smtClean="0"/>
              <a:t>‹#›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7633334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79AA88-D2BF-432A-9E48-DEB452C2974D}" type="slidenum">
              <a:rPr lang="fr-BE" smtClean="0"/>
              <a:t>2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26044199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01279-C1D6-4E6E-8029-998180654F26}" type="datetimeFigureOut">
              <a:rPr lang="fr-BE" smtClean="0"/>
              <a:t>08-11-23</a:t>
            </a:fld>
            <a:endParaRPr lang="fr-B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F2EBA-B0D4-4634-9702-A0D743372F51}" type="slidenum">
              <a:rPr lang="fr-BE" smtClean="0"/>
              <a:t>‹#›</a:t>
            </a:fld>
            <a:endParaRPr lang="fr-BE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20642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01279-C1D6-4E6E-8029-998180654F26}" type="datetimeFigureOut">
              <a:rPr lang="fr-BE" smtClean="0"/>
              <a:t>08-11-23</a:t>
            </a:fld>
            <a:endParaRPr lang="fr-B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F2EBA-B0D4-4634-9702-A0D743372F51}" type="slidenum">
              <a:rPr lang="fr-BE" smtClean="0"/>
              <a:t>‹#›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34826598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01279-C1D6-4E6E-8029-998180654F26}" type="datetimeFigureOut">
              <a:rPr lang="fr-BE" smtClean="0"/>
              <a:t>08-11-23</a:t>
            </a:fld>
            <a:endParaRPr lang="fr-B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F2EBA-B0D4-4634-9702-A0D743372F51}" type="slidenum">
              <a:rPr lang="fr-BE" smtClean="0"/>
              <a:t>‹#›</a:t>
            </a:fld>
            <a:endParaRPr lang="fr-BE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40298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01279-C1D6-4E6E-8029-998180654F26}" type="datetimeFigureOut">
              <a:rPr lang="fr-BE" smtClean="0"/>
              <a:t>08-11-23</a:t>
            </a:fld>
            <a:endParaRPr lang="fr-BE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F2EBA-B0D4-4634-9702-A0D743372F51}" type="slidenum">
              <a:rPr lang="fr-BE" smtClean="0"/>
              <a:t>‹#›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6523329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01279-C1D6-4E6E-8029-998180654F26}" type="datetimeFigureOut">
              <a:rPr lang="fr-BE" smtClean="0"/>
              <a:t>08-11-23</a:t>
            </a:fld>
            <a:endParaRPr lang="fr-BE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F2EBA-B0D4-4634-9702-A0D743372F51}" type="slidenum">
              <a:rPr lang="fr-BE" smtClean="0"/>
              <a:t>‹#›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35191611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01279-C1D6-4E6E-8029-998180654F26}" type="datetimeFigureOut">
              <a:rPr lang="fr-BE" smtClean="0"/>
              <a:t>08-11-23</a:t>
            </a:fld>
            <a:endParaRPr lang="fr-BE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F2EBA-B0D4-4634-9702-A0D743372F51}" type="slidenum">
              <a:rPr lang="fr-BE" smtClean="0"/>
              <a:t>‹#›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42554274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01279-C1D6-4E6E-8029-998180654F26}" type="datetimeFigureOut">
              <a:rPr lang="fr-BE" smtClean="0"/>
              <a:t>08-11-23</a:t>
            </a:fld>
            <a:endParaRPr lang="fr-BE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fr-BE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F2EBA-B0D4-4634-9702-A0D743372F51}" type="slidenum">
              <a:rPr lang="fr-BE" smtClean="0"/>
              <a:t>‹#›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30177990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B7401279-C1D6-4E6E-8029-998180654F26}" type="datetimeFigureOut">
              <a:rPr lang="fr-BE" smtClean="0"/>
              <a:t>08-11-23</a:t>
            </a:fld>
            <a:endParaRPr lang="fr-BE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fr-BE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AFF2EBA-B0D4-4634-9702-A0D743372F51}" type="slidenum">
              <a:rPr lang="fr-BE" smtClean="0"/>
              <a:t>‹#›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2980029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01279-C1D6-4E6E-8029-998180654F26}" type="datetimeFigureOut">
              <a:rPr lang="fr-BE" smtClean="0"/>
              <a:t>08-11-23</a:t>
            </a:fld>
            <a:endParaRPr lang="fr-BE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F2EBA-B0D4-4634-9702-A0D743372F51}" type="slidenum">
              <a:rPr lang="fr-BE" smtClean="0"/>
              <a:t>‹#›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4639834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01279-C1D6-4E6E-8029-998180654F26}" type="datetimeFigureOut">
              <a:rPr lang="fr-BE" smtClean="0"/>
              <a:t>08-11-23</a:t>
            </a:fld>
            <a:endParaRPr lang="fr-B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F2EBA-B0D4-4634-9702-A0D743372F51}" type="slidenum">
              <a:rPr lang="fr-BE" smtClean="0"/>
              <a:t>‹#›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22976090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01279-C1D6-4E6E-8029-998180654F26}" type="datetimeFigureOut">
              <a:rPr lang="fr-BE" smtClean="0"/>
              <a:t>08-11-23</a:t>
            </a:fld>
            <a:endParaRPr lang="fr-B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F2EBA-B0D4-4634-9702-A0D743372F51}" type="slidenum">
              <a:rPr lang="fr-BE" smtClean="0"/>
              <a:t>‹#›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278600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B7401279-C1D6-4E6E-8029-998180654F26}" type="datetimeFigureOut">
              <a:rPr lang="fr-BE" smtClean="0"/>
              <a:t>08-11-23</a:t>
            </a:fld>
            <a:endParaRPr lang="fr-B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fr-B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EAFF2EBA-B0D4-4634-9702-A0D743372F51}" type="slidenum">
              <a:rPr lang="fr-BE" smtClean="0"/>
              <a:t>‹#›</a:t>
            </a:fld>
            <a:endParaRPr lang="fr-BE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5587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  <p:sldLayoutId id="2147483720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99000"/>
                <a:satMod val="140000"/>
              </a:schemeClr>
            </a:gs>
            <a:gs pos="65000">
              <a:schemeClr val="bg2">
                <a:tint val="100000"/>
                <a:shade val="80000"/>
                <a:satMod val="130000"/>
              </a:schemeClr>
            </a:gs>
            <a:gs pos="100000">
              <a:schemeClr val="bg2">
                <a:tint val="100000"/>
                <a:shade val="48000"/>
                <a:satMod val="120000"/>
              </a:schemeClr>
            </a:gs>
          </a:gsLst>
          <a:lin ang="16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BDCECDC-EEE3-4128-AA5E-82A8C08796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260EDE0-989C-4E16-AF94-F652294D82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F3985C0-E548-44D2-B30E-F3E42DADE1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88952" cy="49701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B8652D-1FB2-44D1-95C2-1F75A20E08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892168"/>
          </a:xfrm>
        </p:spPr>
        <p:txBody>
          <a:bodyPr>
            <a:normAutofit/>
          </a:bodyPr>
          <a:lstStyle/>
          <a:p>
            <a:pPr algn="r"/>
            <a:r>
              <a:rPr lang="en-ZA" dirty="0">
                <a:solidFill>
                  <a:srgbClr val="FFFFFF"/>
                </a:solidFill>
              </a:rPr>
              <a:t>Genetic Algorithms</a:t>
            </a:r>
            <a:br>
              <a:rPr lang="en-ZA" dirty="0">
                <a:solidFill>
                  <a:srgbClr val="FFFFFF"/>
                </a:solidFill>
              </a:rPr>
            </a:br>
            <a:r>
              <a:rPr lang="en-ZA" sz="3600" dirty="0">
                <a:solidFill>
                  <a:srgbClr val="FFFFFF"/>
                </a:solidFill>
              </a:rPr>
              <a:t>	“Survival of the fittest”</a:t>
            </a:r>
            <a:endParaRPr lang="fr-BE" dirty="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A46133-36F7-4469-A976-1D6A2AB9B6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0051" y="5225240"/>
            <a:ext cx="10058400" cy="1143000"/>
          </a:xfrm>
        </p:spPr>
        <p:txBody>
          <a:bodyPr>
            <a:normAutofit/>
          </a:bodyPr>
          <a:lstStyle/>
          <a:p>
            <a:r>
              <a:rPr lang="en-ZA" dirty="0">
                <a:solidFill>
                  <a:srgbClr val="FFFFFF"/>
                </a:solidFill>
              </a:rPr>
              <a:t>Dr Yves Matanga</a:t>
            </a:r>
            <a:endParaRPr lang="fr-BE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18284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F116E8-3821-49D8-9069-D3F7988AF0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Outline</a:t>
            </a:r>
            <a:endParaRPr lang="fr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3FA1DD-04DB-4FB2-8FDA-DEDA0A857C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ZA" sz="3600" dirty="0"/>
              <a:t>Advanced analytical Theory and Methods:</a:t>
            </a:r>
          </a:p>
          <a:p>
            <a:pPr marL="0" indent="0">
              <a:buNone/>
            </a:pPr>
            <a:endParaRPr lang="en-ZA" sz="36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ZA" sz="3400" dirty="0"/>
              <a:t>Regression: </a:t>
            </a:r>
          </a:p>
          <a:p>
            <a:pPr lvl="3">
              <a:buFont typeface="Wingdings" panose="05000000000000000000" pitchFamily="2" charset="2"/>
              <a:buChar char="§"/>
            </a:pPr>
            <a:r>
              <a:rPr lang="en-ZA" sz="3000" dirty="0"/>
              <a:t>Linear regression</a:t>
            </a:r>
          </a:p>
          <a:p>
            <a:pPr lvl="3">
              <a:buFont typeface="Wingdings" panose="05000000000000000000" pitchFamily="2" charset="2"/>
              <a:buChar char="§"/>
            </a:pPr>
            <a:r>
              <a:rPr lang="en-ZA" sz="3000" dirty="0"/>
              <a:t>Logistic regression</a:t>
            </a:r>
          </a:p>
          <a:p>
            <a:endParaRPr lang="en-ZA" sz="3600" dirty="0"/>
          </a:p>
        </p:txBody>
      </p:sp>
    </p:spTree>
    <p:extLst>
      <p:ext uri="{BB962C8B-B14F-4D97-AF65-F5344CB8AC3E}">
        <p14:creationId xmlns:p14="http://schemas.microsoft.com/office/powerpoint/2010/main" val="16326311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52ABB703-2B0E-4C3B-B4A2-F3973548E5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F8B4AEB-8E84-4876-9D38-8407308322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1685" y="634946"/>
            <a:ext cx="5127171" cy="1450757"/>
          </a:xfrm>
        </p:spPr>
        <p:txBody>
          <a:bodyPr>
            <a:normAutofit/>
          </a:bodyPr>
          <a:lstStyle/>
          <a:p>
            <a:r>
              <a:rPr lang="en-ZA" dirty="0"/>
              <a:t>Genetic algorithms</a:t>
            </a:r>
            <a:endParaRPr lang="fr-BE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C9573AE-A1EE-3B4A-AC72-E205C602E7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43192" y="2165025"/>
            <a:ext cx="5451627" cy="2207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33" name="Straight Connector 1032">
            <a:extLst>
              <a:ext uri="{FF2B5EF4-FFF2-40B4-BE49-F238E27FC236}">
                <a16:creationId xmlns:a16="http://schemas.microsoft.com/office/drawing/2014/main" id="{9C21570E-E159-49A6-9891-FA397B7A92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11684" y="2086188"/>
            <a:ext cx="4748808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172D630-9F90-4701-96F1-827578DE8E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1684" y="2198914"/>
            <a:ext cx="5127172" cy="3670180"/>
          </a:xfrm>
        </p:spPr>
        <p:txBody>
          <a:bodyPr>
            <a:normAutofit/>
          </a:bodyPr>
          <a:lstStyle/>
          <a:p>
            <a:r>
              <a:rPr lang="en-ZA" dirty="0"/>
              <a:t>Genetic algorithms are complex search methods inspired by the theory of evolution. It belongs to a larger family of evolutionary search methods.</a:t>
            </a:r>
            <a:endParaRPr lang="en-ZA" b="1" dirty="0"/>
          </a:p>
          <a:p>
            <a:pPr marL="384048" lvl="2" indent="0">
              <a:buNone/>
            </a:pPr>
            <a:endParaRPr lang="en-ZA" b="1" dirty="0"/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E95DA498-D9A2-4DA9-B9DA-B3776E08CF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82A73093-4B9D-420D-B17E-52293703A1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1527030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52ABB703-2B0E-4C3B-B4A2-F3973548E5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F8B4AEB-8E84-4876-9D38-8407308322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1685" y="634946"/>
            <a:ext cx="5127171" cy="1450757"/>
          </a:xfrm>
        </p:spPr>
        <p:txBody>
          <a:bodyPr>
            <a:normAutofit/>
          </a:bodyPr>
          <a:lstStyle/>
          <a:p>
            <a:r>
              <a:rPr lang="en-GB" dirty="0"/>
              <a:t>G</a:t>
            </a:r>
            <a:r>
              <a:rPr lang="en-ZA" dirty="0" err="1"/>
              <a:t>enetic</a:t>
            </a:r>
            <a:r>
              <a:rPr lang="en-ZA"/>
              <a:t> algorithm</a:t>
            </a:r>
            <a:endParaRPr lang="fr-BE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25CED0A-204F-DB38-AD63-C1142672AF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555" y="645106"/>
            <a:ext cx="5260900" cy="5247747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C21570E-E159-49A6-9891-FA397B7A92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11684" y="2086188"/>
            <a:ext cx="4748808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172D630-9F90-4701-96F1-827578DE8E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1684" y="2198914"/>
            <a:ext cx="5127172" cy="3670180"/>
          </a:xfrm>
        </p:spPr>
        <p:txBody>
          <a:bodyPr>
            <a:normAutofit/>
          </a:bodyPr>
          <a:lstStyle/>
          <a:p>
            <a:pPr marL="384048" lvl="2" indent="0">
              <a:lnSpc>
                <a:spcPct val="150000"/>
              </a:lnSpc>
              <a:buNone/>
            </a:pPr>
            <a:r>
              <a:rPr lang="en-GB" sz="2000" b="0" i="0" dirty="0">
                <a:effectLst/>
                <a:latin typeface="Montserrat" panose="00000500000000000000" pitchFamily="2" charset="0"/>
              </a:rPr>
              <a:t>It is a population-based algorithm in which candidate optimisation agents possess genetic information and evolve over time generation after generation through three main evolutionary life processes: </a:t>
            </a:r>
          </a:p>
          <a:p>
            <a:pPr marL="384048" lvl="2" indent="0">
              <a:lnSpc>
                <a:spcPct val="150000"/>
              </a:lnSpc>
              <a:buNone/>
            </a:pPr>
            <a:r>
              <a:rPr lang="en-GB" sz="2000" b="1" i="0" dirty="0">
                <a:effectLst/>
                <a:latin typeface="Montserrat" panose="00000500000000000000" pitchFamily="2" charset="0"/>
              </a:rPr>
              <a:t>elitism</a:t>
            </a:r>
            <a:r>
              <a:rPr lang="en-GB" sz="2000" b="0" i="0" dirty="0">
                <a:effectLst/>
                <a:latin typeface="Montserrat" panose="00000500000000000000" pitchFamily="2" charset="0"/>
              </a:rPr>
              <a:t>, </a:t>
            </a:r>
            <a:r>
              <a:rPr lang="en-GB" sz="2000" b="1" i="0" dirty="0">
                <a:effectLst/>
                <a:latin typeface="Montserrat" panose="00000500000000000000" pitchFamily="2" charset="0"/>
              </a:rPr>
              <a:t>mutation</a:t>
            </a:r>
            <a:r>
              <a:rPr lang="en-GB" sz="2000" b="0" i="0" dirty="0">
                <a:effectLst/>
                <a:latin typeface="Montserrat" panose="00000500000000000000" pitchFamily="2" charset="0"/>
              </a:rPr>
              <a:t> and </a:t>
            </a:r>
            <a:r>
              <a:rPr lang="en-GB" sz="2000" b="1" i="0" dirty="0">
                <a:effectLst/>
                <a:latin typeface="Montserrat" panose="00000500000000000000" pitchFamily="2" charset="0"/>
              </a:rPr>
              <a:t>crossover</a:t>
            </a:r>
            <a:r>
              <a:rPr lang="en-GB" sz="2000" b="0" i="0" dirty="0">
                <a:effectLst/>
                <a:latin typeface="Montserrat" panose="00000500000000000000" pitchFamily="2" charset="0"/>
              </a:rPr>
              <a:t>.</a:t>
            </a:r>
            <a:endParaRPr lang="en-ZA" sz="2000" b="1" dirty="0"/>
          </a:p>
          <a:p>
            <a:pPr lvl="5"/>
            <a:endParaRPr lang="fr-BE" b="1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95DA498-D9A2-4DA9-B9DA-B3776E08CF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2A73093-4B9D-420D-B17E-52293703A1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1270596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F8B4AEB-8E84-4876-9D38-8407308322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0"/>
            <a:ext cx="10058400" cy="1450757"/>
          </a:xfrm>
        </p:spPr>
        <p:txBody>
          <a:bodyPr/>
          <a:lstStyle/>
          <a:p>
            <a:pPr algn="ctr"/>
            <a:r>
              <a:rPr lang="en-ZA" dirty="0"/>
              <a:t>Genetic algorithm</a:t>
            </a:r>
            <a:endParaRPr lang="fr-BE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172D630-9F90-4701-96F1-827578DE8E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fr-BE" sz="2200" dirty="0"/>
              <a:t>Genetic algorithm is centred on the idea that as a population evolves over time, </a:t>
            </a:r>
            <a:r>
              <a:rPr lang="fr-BE" sz="2200" b="1" dirty="0"/>
              <a:t>better individuals, ``much fitter to the environment ’’ </a:t>
            </a:r>
            <a:r>
              <a:rPr lang="fr-BE" sz="2200" dirty="0"/>
              <a:t>are formed in this evolutionary process, generation after generation.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24DAE385-F520-5CAD-3A60-631B52F871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454488" y="3429000"/>
            <a:ext cx="7692927" cy="31156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664075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52ABB703-2B0E-4C3B-B4A2-F3973548E5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F8B4AEB-8E84-4876-9D38-8407308322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1685" y="634946"/>
            <a:ext cx="5412453" cy="1450757"/>
          </a:xfrm>
        </p:spPr>
        <p:txBody>
          <a:bodyPr>
            <a:normAutofit/>
          </a:bodyPr>
          <a:lstStyle/>
          <a:p>
            <a:r>
              <a:rPr lang="en-ZA" sz="4400" b="1" dirty="0"/>
              <a:t>Components of a genetic process</a:t>
            </a:r>
            <a:endParaRPr lang="fr-BE" sz="4400" b="1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A345A1B-9CC0-5085-7B0F-6B848F48EC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555" y="645106"/>
            <a:ext cx="5260900" cy="5247747"/>
          </a:xfrm>
          <a:prstGeom prst="rect">
            <a:avLst/>
          </a:prstGeom>
        </p:spPr>
      </p:pic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9C21570E-E159-49A6-9891-FA397B7A92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11684" y="2086188"/>
            <a:ext cx="4748808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0B8843A-26ED-4456-85A8-A65F61DB2E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1684" y="2198914"/>
            <a:ext cx="5127172" cy="3670180"/>
          </a:xfrm>
        </p:spPr>
        <p:txBody>
          <a:bodyPr>
            <a:normAutofit/>
          </a:bodyPr>
          <a:lstStyle/>
          <a:p>
            <a:pPr fontAlgn="base">
              <a:buFont typeface="Wingdings" panose="05000000000000000000" pitchFamily="2" charset="2"/>
              <a:buChar char="ü"/>
            </a:pPr>
            <a:r>
              <a:rPr lang="en-GB" b="0" i="0" dirty="0">
                <a:effectLst/>
                <a:latin typeface="Montserrat" panose="00000500000000000000" pitchFamily="2" charset="0"/>
              </a:rPr>
              <a:t>Genetic Code Formation</a:t>
            </a:r>
          </a:p>
          <a:p>
            <a:pPr fontAlgn="base">
              <a:buFont typeface="Wingdings" panose="05000000000000000000" pitchFamily="2" charset="2"/>
              <a:buChar char="ü"/>
            </a:pPr>
            <a:r>
              <a:rPr lang="en-GB" b="0" i="0" dirty="0">
                <a:effectLst/>
                <a:latin typeface="Montserrat" panose="00000500000000000000" pitchFamily="2" charset="0"/>
              </a:rPr>
              <a:t>Fitness/Cost Function</a:t>
            </a:r>
          </a:p>
          <a:p>
            <a:pPr fontAlgn="base">
              <a:buFont typeface="Wingdings" panose="05000000000000000000" pitchFamily="2" charset="2"/>
              <a:buChar char="ü"/>
            </a:pPr>
            <a:r>
              <a:rPr lang="en-GB" b="0" i="0" dirty="0">
                <a:effectLst/>
                <a:latin typeface="Montserrat" panose="00000500000000000000" pitchFamily="2" charset="0"/>
              </a:rPr>
              <a:t>Population Initialisation</a:t>
            </a:r>
          </a:p>
          <a:p>
            <a:pPr fontAlgn="base">
              <a:buFont typeface="Wingdings" panose="05000000000000000000" pitchFamily="2" charset="2"/>
              <a:buChar char="ü"/>
            </a:pPr>
            <a:r>
              <a:rPr lang="en-GB" b="0" i="0" dirty="0">
                <a:effectLst/>
                <a:latin typeface="Montserrat" panose="00000500000000000000" pitchFamily="2" charset="0"/>
              </a:rPr>
              <a:t>Elitism</a:t>
            </a:r>
          </a:p>
          <a:p>
            <a:pPr fontAlgn="base">
              <a:buFont typeface="Wingdings" panose="05000000000000000000" pitchFamily="2" charset="2"/>
              <a:buChar char="ü"/>
            </a:pPr>
            <a:r>
              <a:rPr lang="en-GB" b="0" i="0" dirty="0">
                <a:effectLst/>
                <a:latin typeface="Montserrat" panose="00000500000000000000" pitchFamily="2" charset="0"/>
              </a:rPr>
              <a:t>Crossover</a:t>
            </a:r>
          </a:p>
          <a:p>
            <a:pPr fontAlgn="base">
              <a:buFont typeface="Wingdings" panose="05000000000000000000" pitchFamily="2" charset="2"/>
              <a:buChar char="ü"/>
            </a:pPr>
            <a:r>
              <a:rPr lang="en-GB" b="0" i="0" dirty="0">
                <a:effectLst/>
                <a:latin typeface="Montserrat" panose="00000500000000000000" pitchFamily="2" charset="0"/>
              </a:rPr>
              <a:t>Mutation</a:t>
            </a:r>
          </a:p>
          <a:p>
            <a:pPr marL="0" indent="0">
              <a:buNone/>
            </a:pPr>
            <a:endParaRPr lang="en-ZA" b="1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95DA498-D9A2-4DA9-B9DA-B3776E08CF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2A73093-4B9D-420D-B17E-52293703A1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7257299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5" name="Rectangle 2054">
            <a:extLst>
              <a:ext uri="{FF2B5EF4-FFF2-40B4-BE49-F238E27FC236}">
                <a16:creationId xmlns:a16="http://schemas.microsoft.com/office/drawing/2014/main" id="{F9E80720-23E6-4B89-B77E-04A7689F1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7" name="Rectangle 2056">
            <a:extLst>
              <a:ext uri="{FF2B5EF4-FFF2-40B4-BE49-F238E27FC236}">
                <a16:creationId xmlns:a16="http://schemas.microsoft.com/office/drawing/2014/main" id="{CD1D3CA1-3EB6-41F3-A419-8424B56BE6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F8B4AEB-8E84-4876-9D38-8407308322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5252936"/>
            <a:ext cx="10058400" cy="1028715"/>
          </a:xfrm>
        </p:spPr>
        <p:txBody>
          <a:bodyPr>
            <a:normAutofit/>
          </a:bodyPr>
          <a:lstStyle/>
          <a:p>
            <a:pPr algn="ctr"/>
            <a:r>
              <a:rPr lang="en-ZA">
                <a:solidFill>
                  <a:srgbClr val="FFFFFF"/>
                </a:solidFill>
              </a:rPr>
              <a:t>Genetic code</a:t>
            </a:r>
            <a:endParaRPr lang="fr-BE">
              <a:solidFill>
                <a:srgbClr val="FFFFFF"/>
              </a:solidFill>
            </a:endParaRPr>
          </a:p>
        </p:txBody>
      </p:sp>
      <p:sp>
        <p:nvSpPr>
          <p:cNvPr id="2059" name="Rectangle 2058">
            <a:extLst>
              <a:ext uri="{FF2B5EF4-FFF2-40B4-BE49-F238E27FC236}">
                <a16:creationId xmlns:a16="http://schemas.microsoft.com/office/drawing/2014/main" id="{4D87F7B2-AA36-4B58-BC2C-1BBA135E8B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4906176"/>
            <a:ext cx="12188952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172D630-9F90-4701-96F1-827578DE8E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50957" y="643467"/>
            <a:ext cx="8336015" cy="3334406"/>
          </a:xfrm>
        </p:spPr>
        <p:txBody>
          <a:bodyPr>
            <a:normAutofit/>
          </a:bodyPr>
          <a:lstStyle/>
          <a:p>
            <a:pPr marL="714548" lvl="5" indent="0" defTabSz="749808">
              <a:spcBef>
                <a:spcPts val="164"/>
              </a:spcBef>
              <a:spcAft>
                <a:spcPts val="328"/>
              </a:spcAft>
              <a:buNone/>
            </a:pPr>
            <a:r>
              <a:rPr lang="fr-BE" sz="1804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 </a:t>
            </a:r>
            <a:endParaRPr lang="fr-BE" sz="2200" b="1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58F702-B0F0-652C-BF6B-A307370A7F94}"/>
              </a:ext>
            </a:extLst>
          </p:cNvPr>
          <p:cNvSpPr txBox="1"/>
          <p:nvPr/>
        </p:nvSpPr>
        <p:spPr>
          <a:xfrm>
            <a:off x="1900436" y="838487"/>
            <a:ext cx="8285493" cy="1300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374904">
              <a:spcAft>
                <a:spcPts val="600"/>
              </a:spcAft>
            </a:pPr>
            <a:r>
              <a:rPr lang="en-GB" sz="1968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Genetic code refers to the </a:t>
            </a:r>
            <a:r>
              <a:rPr lang="en-GB" sz="1968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representation of a potential solution</a:t>
            </a:r>
            <a:r>
              <a:rPr lang="en-GB" sz="1968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It is analogous to the </a:t>
            </a:r>
            <a:r>
              <a:rPr lang="en-GB" sz="1968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genetic material (DNA)</a:t>
            </a:r>
            <a:r>
              <a:rPr lang="en-GB" sz="1968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in biological organisms. The genetic code represents the </a:t>
            </a:r>
            <a:r>
              <a:rPr lang="en-GB" sz="1968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characteristics or parameters </a:t>
            </a:r>
            <a:r>
              <a:rPr lang="en-GB" sz="1968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of an individual within the population.</a:t>
            </a:r>
            <a:endParaRPr lang="en-ZA" sz="2400"/>
          </a:p>
        </p:txBody>
      </p:sp>
      <p:pic>
        <p:nvPicPr>
          <p:cNvPr id="2050" name="Picture 2" descr="Only Half of Chromosome is DNA, New Study Reveals | Biology | Sci-News.com">
            <a:extLst>
              <a:ext uri="{FF2B5EF4-FFF2-40B4-BE49-F238E27FC236}">
                <a16:creationId xmlns:a16="http://schemas.microsoft.com/office/drawing/2014/main" id="{9CA6EFD7-5351-C50B-EA1F-695DD57F09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3139" y="2099455"/>
            <a:ext cx="3830201" cy="21632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852424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F8B4AEB-8E84-4876-9D38-8407308322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ZA"/>
              <a:t>Genetic code</a:t>
            </a:r>
            <a:endParaRPr lang="fr-BE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172D630-9F90-4701-96F1-827578DE8E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1959" y="2117365"/>
            <a:ext cx="8509121" cy="3124987"/>
          </a:xfrm>
        </p:spPr>
        <p:txBody>
          <a:bodyPr>
            <a:normAutofit/>
          </a:bodyPr>
          <a:lstStyle/>
          <a:p>
            <a:pPr marL="679692" lvl="5" indent="0" defTabSz="713232">
              <a:spcBef>
                <a:spcPts val="156"/>
              </a:spcBef>
              <a:spcAft>
                <a:spcPts val="312"/>
              </a:spcAft>
              <a:buNone/>
            </a:pPr>
            <a:r>
              <a:rPr lang="fr-BE" sz="1716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 </a:t>
            </a:r>
            <a:endParaRPr lang="fr-BE" sz="2200" b="1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58F702-B0F0-652C-BF6B-A307370A7F94}"/>
              </a:ext>
            </a:extLst>
          </p:cNvPr>
          <p:cNvSpPr txBox="1"/>
          <p:nvPr/>
        </p:nvSpPr>
        <p:spPr>
          <a:xfrm>
            <a:off x="835573" y="2117365"/>
            <a:ext cx="1048406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356616">
              <a:spcAft>
                <a:spcPts val="600"/>
              </a:spcAft>
            </a:pPr>
            <a:r>
              <a:rPr lang="en-GB" sz="2400" kern="1200" dirty="0">
                <a:solidFill>
                  <a:srgbClr val="374151"/>
                </a:solidFill>
                <a:latin typeface="Söhne"/>
                <a:ea typeface="+mn-ea"/>
                <a:cs typeface="+mn-cs"/>
              </a:rPr>
              <a:t>Solutions are encoded as </a:t>
            </a:r>
            <a:r>
              <a:rPr lang="en-GB" sz="2400" b="1" kern="1200" dirty="0">
                <a:solidFill>
                  <a:srgbClr val="374151"/>
                </a:solidFill>
                <a:latin typeface="Söhne"/>
                <a:ea typeface="+mn-ea"/>
                <a:cs typeface="+mn-cs"/>
              </a:rPr>
              <a:t>strings</a:t>
            </a:r>
            <a:r>
              <a:rPr lang="en-GB" sz="2400" kern="1200" dirty="0">
                <a:solidFill>
                  <a:srgbClr val="374151"/>
                </a:solidFill>
                <a:latin typeface="Söhne"/>
                <a:ea typeface="+mn-ea"/>
                <a:cs typeface="+mn-cs"/>
              </a:rPr>
              <a:t> of symbols, often referred to as </a:t>
            </a:r>
            <a:r>
              <a:rPr lang="en-GB" sz="2400" b="1" kern="1200" dirty="0">
                <a:solidFill>
                  <a:srgbClr val="374151"/>
                </a:solidFill>
                <a:latin typeface="Söhne"/>
                <a:ea typeface="+mn-ea"/>
                <a:cs typeface="+mn-cs"/>
              </a:rPr>
              <a:t>chromosomes</a:t>
            </a:r>
            <a:r>
              <a:rPr lang="en-GB" sz="2400" kern="1200" dirty="0">
                <a:solidFill>
                  <a:srgbClr val="374151"/>
                </a:solidFill>
                <a:latin typeface="Söhne"/>
                <a:ea typeface="+mn-ea"/>
                <a:cs typeface="+mn-cs"/>
              </a:rPr>
              <a:t>. These strings are composed of </a:t>
            </a:r>
            <a:r>
              <a:rPr lang="en-GB" sz="2400" b="1" kern="1200" dirty="0">
                <a:solidFill>
                  <a:srgbClr val="374151"/>
                </a:solidFill>
                <a:latin typeface="Söhne"/>
                <a:ea typeface="+mn-ea"/>
                <a:cs typeface="+mn-cs"/>
              </a:rPr>
              <a:t>genes</a:t>
            </a:r>
            <a:r>
              <a:rPr lang="en-GB" sz="2400" kern="1200" dirty="0">
                <a:solidFill>
                  <a:srgbClr val="374151"/>
                </a:solidFill>
                <a:latin typeface="Söhne"/>
                <a:ea typeface="+mn-ea"/>
                <a:cs typeface="+mn-cs"/>
              </a:rPr>
              <a:t>, where each </a:t>
            </a:r>
            <a:r>
              <a:rPr lang="en-GB" sz="2400" b="1" kern="1200" dirty="0">
                <a:solidFill>
                  <a:srgbClr val="374151"/>
                </a:solidFill>
                <a:latin typeface="Söhne"/>
                <a:ea typeface="+mn-ea"/>
                <a:cs typeface="+mn-cs"/>
              </a:rPr>
              <a:t>gene</a:t>
            </a:r>
            <a:r>
              <a:rPr lang="en-GB" sz="2400" kern="1200" dirty="0">
                <a:solidFill>
                  <a:srgbClr val="374151"/>
                </a:solidFill>
                <a:latin typeface="Söhne"/>
                <a:ea typeface="+mn-ea"/>
                <a:cs typeface="+mn-cs"/>
              </a:rPr>
              <a:t> </a:t>
            </a:r>
            <a:r>
              <a:rPr lang="en-GB" sz="2400" b="1" kern="1200" dirty="0">
                <a:solidFill>
                  <a:srgbClr val="374151"/>
                </a:solidFill>
                <a:latin typeface="Söhne"/>
                <a:ea typeface="+mn-ea"/>
                <a:cs typeface="+mn-cs"/>
              </a:rPr>
              <a:t>corresponds</a:t>
            </a:r>
            <a:r>
              <a:rPr lang="en-GB" sz="2400" kern="1200" dirty="0">
                <a:solidFill>
                  <a:srgbClr val="374151"/>
                </a:solidFill>
                <a:latin typeface="Söhne"/>
                <a:ea typeface="+mn-ea"/>
                <a:cs typeface="+mn-cs"/>
              </a:rPr>
              <a:t> to a specific parameter or decision variable in the problem domain.</a:t>
            </a:r>
            <a:endParaRPr lang="en-ZA" sz="3200" dirty="0"/>
          </a:p>
        </p:txBody>
      </p:sp>
      <p:pic>
        <p:nvPicPr>
          <p:cNvPr id="4098" name="Picture 2" descr="Only Half of Chromosome is DNA, New Study Reveals | Biology | Sci-News.com">
            <a:extLst>
              <a:ext uri="{FF2B5EF4-FFF2-40B4-BE49-F238E27FC236}">
                <a16:creationId xmlns:a16="http://schemas.microsoft.com/office/drawing/2014/main" id="{7B6808DD-B531-11BE-DAD7-4079C6F2AC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4756" y="3619003"/>
            <a:ext cx="4513054" cy="25489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480765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F8B4AEB-8E84-4876-9D38-8407308322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ZA" dirty="0"/>
              <a:t>Fitness function</a:t>
            </a:r>
            <a:endParaRPr lang="fr-BE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172D630-9F90-4701-96F1-827578DE8E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91444" y="2098515"/>
            <a:ext cx="7554969" cy="3021987"/>
          </a:xfrm>
        </p:spPr>
        <p:txBody>
          <a:bodyPr>
            <a:normAutofit/>
          </a:bodyPr>
          <a:lstStyle/>
          <a:p>
            <a:pPr marL="653550" lvl="5" indent="0" defTabSz="685800">
              <a:spcBef>
                <a:spcPts val="150"/>
              </a:spcBef>
              <a:spcAft>
                <a:spcPts val="300"/>
              </a:spcAft>
              <a:buNone/>
            </a:pPr>
            <a:r>
              <a:rPr lang="fr-BE" sz="165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 </a:t>
            </a:r>
            <a:endParaRPr lang="fr-BE" sz="2200" b="1"/>
          </a:p>
        </p:txBody>
      </p:sp>
      <p:sp>
        <p:nvSpPr>
          <p:cNvPr id="10" name="Content Placeholder 8">
            <a:extLst>
              <a:ext uri="{FF2B5EF4-FFF2-40B4-BE49-F238E27FC236}">
                <a16:creationId xmlns:a16="http://schemas.microsoft.com/office/drawing/2014/main" id="{A20E8ADB-CCCE-4061-9660-0F8EFEED581E}"/>
              </a:ext>
            </a:extLst>
          </p:cNvPr>
          <p:cNvSpPr txBox="1">
            <a:spLocks/>
          </p:cNvSpPr>
          <p:nvPr/>
        </p:nvSpPr>
        <p:spPr>
          <a:xfrm>
            <a:off x="772511" y="2212984"/>
            <a:ext cx="9188372" cy="3021987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6586" lvl="1" indent="0" defTabSz="685800">
              <a:lnSpc>
                <a:spcPct val="150000"/>
              </a:lnSpc>
              <a:spcBef>
                <a:spcPts val="150"/>
              </a:spcBef>
              <a:spcAft>
                <a:spcPts val="300"/>
              </a:spcAft>
              <a:buNone/>
            </a:pPr>
            <a:r>
              <a:rPr lang="en-GB" sz="1500" kern="1200" dirty="0">
                <a:solidFill>
                  <a:srgbClr val="4B4F58"/>
                </a:solidFill>
                <a:latin typeface="Montserrat" panose="00000500000000000000" pitchFamily="2" charset="0"/>
                <a:ea typeface="+mn-ea"/>
                <a:cs typeface="+mn-cs"/>
              </a:rPr>
              <a:t>Upon determining the genetic code of population individuals, a cost or fitness function (i.e. f(x))  must be defined that will </a:t>
            </a:r>
            <a:r>
              <a:rPr lang="en-GB" sz="1500" b="1" kern="1200" dirty="0">
                <a:solidFill>
                  <a:srgbClr val="4B4F58"/>
                </a:solidFill>
                <a:latin typeface="Montserrat" panose="00000500000000000000" pitchFamily="2" charset="0"/>
                <a:ea typeface="+mn-ea"/>
                <a:cs typeface="+mn-cs"/>
              </a:rPr>
              <a:t>quantify the performance </a:t>
            </a:r>
            <a:r>
              <a:rPr lang="en-GB" sz="1500" kern="1200" dirty="0">
                <a:solidFill>
                  <a:srgbClr val="4B4F58"/>
                </a:solidFill>
                <a:latin typeface="Montserrat" panose="00000500000000000000" pitchFamily="2" charset="0"/>
                <a:ea typeface="+mn-ea"/>
                <a:cs typeface="+mn-cs"/>
              </a:rPr>
              <a:t>of any given candidate solution. </a:t>
            </a:r>
            <a:endParaRPr lang="fr-BE" sz="2000" dirty="0"/>
          </a:p>
        </p:txBody>
      </p:sp>
      <p:pic>
        <p:nvPicPr>
          <p:cNvPr id="5122" name="Picture 2" descr="File:Rosenbrock's function in 3D.pdf - Wikipedia">
            <a:extLst>
              <a:ext uri="{FF2B5EF4-FFF2-40B4-BE49-F238E27FC236}">
                <a16:creationId xmlns:a16="http://schemas.microsoft.com/office/drawing/2014/main" id="{215C4EB7-14E6-1075-3F73-D8AD1C8D8E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0702" y="3429000"/>
            <a:ext cx="4057736" cy="30433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957742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F8B4AEB-8E84-4876-9D38-8407308322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ZA"/>
              <a:t>Population initialisation</a:t>
            </a:r>
            <a:endParaRPr lang="fr-BE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172D630-9F90-4701-96F1-827578DE8E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01778" y="2098515"/>
            <a:ext cx="6387878" cy="2555151"/>
          </a:xfrm>
        </p:spPr>
        <p:txBody>
          <a:bodyPr>
            <a:normAutofit/>
          </a:bodyPr>
          <a:lstStyle/>
          <a:p>
            <a:pPr marL="548982" lvl="5" indent="0" defTabSz="576072">
              <a:spcBef>
                <a:spcPts val="126"/>
              </a:spcBef>
              <a:spcAft>
                <a:spcPts val="252"/>
              </a:spcAft>
              <a:buNone/>
            </a:pPr>
            <a:r>
              <a:rPr lang="fr-BE" sz="1386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 </a:t>
            </a:r>
            <a:endParaRPr lang="fr-BE" sz="2200" b="1"/>
          </a:p>
        </p:txBody>
      </p:sp>
      <p:sp>
        <p:nvSpPr>
          <p:cNvPr id="10" name="Content Placeholder 8">
            <a:extLst>
              <a:ext uri="{FF2B5EF4-FFF2-40B4-BE49-F238E27FC236}">
                <a16:creationId xmlns:a16="http://schemas.microsoft.com/office/drawing/2014/main" id="{A20E8ADB-CCCE-4061-9660-0F8EFEED581E}"/>
              </a:ext>
            </a:extLst>
          </p:cNvPr>
          <p:cNvSpPr txBox="1">
            <a:spLocks/>
          </p:cNvSpPr>
          <p:nvPr/>
        </p:nvSpPr>
        <p:spPr>
          <a:xfrm>
            <a:off x="451752" y="2052920"/>
            <a:ext cx="11198965" cy="255515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97932" lvl="1" indent="0" defTabSz="576072">
              <a:lnSpc>
                <a:spcPct val="150000"/>
              </a:lnSpc>
              <a:spcBef>
                <a:spcPts val="126"/>
              </a:spcBef>
              <a:spcAft>
                <a:spcPts val="252"/>
              </a:spcAft>
              <a:buNone/>
            </a:pPr>
            <a:r>
              <a:rPr lang="en-GB" kern="1200" dirty="0">
                <a:solidFill>
                  <a:srgbClr val="4B4F58"/>
                </a:solidFill>
                <a:latin typeface="Montserrat" panose="00000500000000000000" pitchFamily="2" charset="0"/>
                <a:ea typeface="+mn-ea"/>
                <a:cs typeface="+mn-cs"/>
              </a:rPr>
              <a:t>Genetic algorithms are </a:t>
            </a:r>
            <a:r>
              <a:rPr lang="en-GB" b="1" kern="1200" dirty="0">
                <a:solidFill>
                  <a:srgbClr val="4B4F58"/>
                </a:solidFill>
                <a:latin typeface="Montserrat" panose="00000500000000000000" pitchFamily="2" charset="0"/>
                <a:ea typeface="+mn-ea"/>
                <a:cs typeface="+mn-cs"/>
              </a:rPr>
              <a:t>population-based </a:t>
            </a:r>
            <a:r>
              <a:rPr lang="en-GB" kern="1200" dirty="0">
                <a:solidFill>
                  <a:srgbClr val="4B4F58"/>
                </a:solidFill>
                <a:latin typeface="Montserrat" panose="00000500000000000000" pitchFamily="2" charset="0"/>
                <a:ea typeface="+mn-ea"/>
                <a:cs typeface="+mn-cs"/>
              </a:rPr>
              <a:t>methods, they must be initialised with a given number of </a:t>
            </a:r>
            <a:r>
              <a:rPr lang="en-GB" b="1" kern="1200" dirty="0">
                <a:solidFill>
                  <a:srgbClr val="4B4F58"/>
                </a:solidFill>
                <a:latin typeface="Montserrat" panose="00000500000000000000" pitchFamily="2" charset="0"/>
                <a:ea typeface="+mn-ea"/>
                <a:cs typeface="+mn-cs"/>
              </a:rPr>
              <a:t>population individuals</a:t>
            </a:r>
            <a:r>
              <a:rPr lang="en-GB" kern="1200" dirty="0">
                <a:solidFill>
                  <a:srgbClr val="4B4F58"/>
                </a:solidFill>
                <a:latin typeface="Montserrat" panose="00000500000000000000" pitchFamily="2" charset="0"/>
                <a:ea typeface="+mn-ea"/>
                <a:cs typeface="+mn-cs"/>
              </a:rPr>
              <a:t>.</a:t>
            </a:r>
            <a:endParaRPr lang="fr-BE" sz="3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221DF58-BB56-3C5C-2D3E-52C94961054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4410" t="2833" r="36634" b="44979"/>
          <a:stretch/>
        </p:blipFill>
        <p:spPr>
          <a:xfrm>
            <a:off x="5668909" y="2742302"/>
            <a:ext cx="5101277" cy="3913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830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F8B4AEB-8E84-4876-9D38-8407308322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889386" y="161149"/>
            <a:ext cx="7555400" cy="1450757"/>
          </a:xfrm>
        </p:spPr>
        <p:txBody>
          <a:bodyPr/>
          <a:lstStyle/>
          <a:p>
            <a:pPr algn="ctr"/>
            <a:r>
              <a:rPr lang="en-ZA" dirty="0"/>
              <a:t>Elitism</a:t>
            </a:r>
            <a:endParaRPr lang="fr-BE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172D630-9F90-4701-96F1-827578DE8E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871400" lvl="5" indent="0">
              <a:buNone/>
            </a:pPr>
            <a:r>
              <a:rPr lang="fr-BE" sz="2200" b="1" dirty="0"/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5602947-EE7B-55BF-8B08-841793915550}"/>
              </a:ext>
            </a:extLst>
          </p:cNvPr>
          <p:cNvSpPr txBox="1"/>
          <p:nvPr/>
        </p:nvSpPr>
        <p:spPr>
          <a:xfrm>
            <a:off x="404497" y="2828835"/>
            <a:ext cx="547063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Elitism is selection approach in genetic algorithms that guarantees that the fittest individuals move to the next generation.</a:t>
            </a:r>
            <a:endParaRPr lang="en-ZA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C1B0874-7073-0924-80AD-D15410A4FC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5132" y="501046"/>
            <a:ext cx="5531593" cy="5517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70796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F8B4AEB-8E84-4876-9D38-8407308322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889386" y="161149"/>
            <a:ext cx="7555400" cy="1450757"/>
          </a:xfrm>
        </p:spPr>
        <p:txBody>
          <a:bodyPr/>
          <a:lstStyle/>
          <a:p>
            <a:pPr algn="ctr"/>
            <a:r>
              <a:rPr lang="en-ZA" dirty="0"/>
              <a:t>Crossover</a:t>
            </a:r>
            <a:endParaRPr lang="fr-BE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172D630-9F90-4701-96F1-827578DE8E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871400" lvl="5" indent="0">
              <a:buNone/>
            </a:pPr>
            <a:r>
              <a:rPr lang="fr-BE" sz="2200" b="1" dirty="0"/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5602947-EE7B-55BF-8B08-841793915550}"/>
              </a:ext>
            </a:extLst>
          </p:cNvPr>
          <p:cNvSpPr txBox="1"/>
          <p:nvPr/>
        </p:nvSpPr>
        <p:spPr>
          <a:xfrm>
            <a:off x="404497" y="2828835"/>
            <a:ext cx="547063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/>
              <a:t>Crossover</a:t>
            </a:r>
            <a:r>
              <a:rPr lang="en-GB" sz="2400" dirty="0"/>
              <a:t> is the process in which two population individuals mate (“exchange genetic content”) with the hope of creating better breeds.</a:t>
            </a:r>
            <a:endParaRPr lang="en-ZA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C1B0874-7073-0924-80AD-D15410A4FC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5132" y="501046"/>
            <a:ext cx="5531593" cy="5517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1404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F8B4AEB-8E84-4876-9D38-8407308322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889386" y="161149"/>
            <a:ext cx="7555400" cy="1450757"/>
          </a:xfrm>
        </p:spPr>
        <p:txBody>
          <a:bodyPr/>
          <a:lstStyle/>
          <a:p>
            <a:pPr algn="ctr"/>
            <a:r>
              <a:rPr lang="en-ZA" dirty="0"/>
              <a:t>Mutation</a:t>
            </a:r>
            <a:endParaRPr lang="fr-BE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172D630-9F90-4701-96F1-827578DE8E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871400" lvl="5" indent="0">
              <a:buNone/>
            </a:pPr>
            <a:r>
              <a:rPr lang="fr-BE" sz="2200" b="1" dirty="0"/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5602947-EE7B-55BF-8B08-841793915550}"/>
              </a:ext>
            </a:extLst>
          </p:cNvPr>
          <p:cNvSpPr txBox="1"/>
          <p:nvPr/>
        </p:nvSpPr>
        <p:spPr>
          <a:xfrm>
            <a:off x="404497" y="2828835"/>
            <a:ext cx="547063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/>
              <a:t>Mutation</a:t>
            </a:r>
            <a:r>
              <a:rPr lang="en-GB" sz="2400" dirty="0"/>
              <a:t> is the process in which an individual modifies its genetic information to adapt to the environment.</a:t>
            </a:r>
            <a:endParaRPr lang="en-ZA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C1B0874-7073-0924-80AD-D15410A4FC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5132" y="501046"/>
            <a:ext cx="5531593" cy="5517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67311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10">
            <a:extLst>
              <a:ext uri="{FF2B5EF4-FFF2-40B4-BE49-F238E27FC236}">
                <a16:creationId xmlns:a16="http://schemas.microsoft.com/office/drawing/2014/main" id="{4E4490D0-3672-446A-AC12-B4830333B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5" name="Rectangle 12">
            <a:extLst>
              <a:ext uri="{FF2B5EF4-FFF2-40B4-BE49-F238E27FC236}">
                <a16:creationId xmlns:a16="http://schemas.microsoft.com/office/drawing/2014/main" id="{39CB82C2-DF65-4EC1-8280-F201D50F5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26" name="Straight Connector 14">
            <a:extLst>
              <a:ext uri="{FF2B5EF4-FFF2-40B4-BE49-F238E27FC236}">
                <a16:creationId xmlns:a16="http://schemas.microsoft.com/office/drawing/2014/main" id="{7E1D4427-852B-4B37-8E76-0E9F1810BA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7" name="Rectangle 16">
            <a:extLst>
              <a:ext uri="{FF2B5EF4-FFF2-40B4-BE49-F238E27FC236}">
                <a16:creationId xmlns:a16="http://schemas.microsoft.com/office/drawing/2014/main" id="{FA4CD5CB-D209-4D70-8CA4-629731C59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F8B4AEB-8E84-4876-9D38-8407308322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1110" y="639097"/>
            <a:ext cx="3401961" cy="368601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100">
                <a:solidFill>
                  <a:schemeClr val="tx1">
                    <a:lumMod val="85000"/>
                    <a:lumOff val="15000"/>
                  </a:schemeClr>
                </a:solidFill>
              </a:rPr>
              <a:t>Typical GA pseudocode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EBDF8E9-6FF8-56A3-92D5-97B751C68B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999" y="912048"/>
            <a:ext cx="7193641" cy="4693850"/>
          </a:xfrm>
          <a:prstGeom prst="rect">
            <a:avLst/>
          </a:prstGeom>
        </p:spPr>
      </p:pic>
      <p:cxnSp>
        <p:nvCxnSpPr>
          <p:cNvPr id="28" name="Straight Connector 18">
            <a:extLst>
              <a:ext uri="{FF2B5EF4-FFF2-40B4-BE49-F238E27FC236}">
                <a16:creationId xmlns:a16="http://schemas.microsoft.com/office/drawing/2014/main" id="{5C6A2BAE-B461-4B55-8E1F-0722ABDD13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209305" y="4343400"/>
            <a:ext cx="320040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0">
            <a:extLst>
              <a:ext uri="{FF2B5EF4-FFF2-40B4-BE49-F238E27FC236}">
                <a16:creationId xmlns:a16="http://schemas.microsoft.com/office/drawing/2014/main" id="{B4C27B90-DF2B-4D00-BA07-18ED774CD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93ACC25-C262-417A-8AA9-0641C772BD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4099199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5C8D2C1-DA83-420D-9635-D52CE066B5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4F74C9-6A0B-409E-AD1C-45B58BE91B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5486A9D-1265-4B57-91E6-68E666B97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Maze">
            <a:extLst>
              <a:ext uri="{FF2B5EF4-FFF2-40B4-BE49-F238E27FC236}">
                <a16:creationId xmlns:a16="http://schemas.microsoft.com/office/drawing/2014/main" id="{C78D4797-347D-0ED6-F539-A6407E60033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0163" r="16284" b="-1"/>
          <a:stretch/>
        </p:blipFill>
        <p:spPr>
          <a:xfrm>
            <a:off x="16" y="10"/>
            <a:ext cx="7556889" cy="685799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E9ED41B5-F9B0-4DE1-8C59-A980468A70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7613486" y="0"/>
            <a:ext cx="458473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F8B4AEB-8E84-4876-9D38-8407308322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96885" y="640080"/>
            <a:ext cx="3659246" cy="292608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400">
                <a:solidFill>
                  <a:srgbClr val="FFFFFF"/>
                </a:solidFill>
              </a:rPr>
              <a:t>Example problem: shortest route problem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482A030-873A-4216-B6A6-C3348B9CA2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6906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5567282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151" name="Rectangle 6150">
            <a:extLst>
              <a:ext uri="{FF2B5EF4-FFF2-40B4-BE49-F238E27FC236}">
                <a16:creationId xmlns:a16="http://schemas.microsoft.com/office/drawing/2014/main" id="{284B70D5-875B-433D-BDBD-1522A85D6C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F8B4AEB-8E84-4876-9D38-8407308322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9485" y="634946"/>
            <a:ext cx="3690257" cy="1450757"/>
          </a:xfrm>
        </p:spPr>
        <p:txBody>
          <a:bodyPr>
            <a:normAutofit/>
          </a:bodyPr>
          <a:lstStyle/>
          <a:p>
            <a:r>
              <a:rPr lang="en-GB" dirty="0"/>
              <a:t>S</a:t>
            </a:r>
            <a:r>
              <a:rPr lang="en-ZA" dirty="0"/>
              <a:t>hortest route problem</a:t>
            </a:r>
            <a:endParaRPr lang="fr-BE"/>
          </a:p>
        </p:txBody>
      </p:sp>
      <p:pic>
        <p:nvPicPr>
          <p:cNvPr id="6146" name="Picture 2" descr="shortest route">
            <a:extLst>
              <a:ext uri="{FF2B5EF4-FFF2-40B4-BE49-F238E27FC236}">
                <a16:creationId xmlns:a16="http://schemas.microsoft.com/office/drawing/2014/main" id="{7435BDF4-A782-AAA5-F680-D0DD3E3631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35486" y="640081"/>
            <a:ext cx="6706827" cy="53144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153" name="Straight Connector 6152">
            <a:extLst>
              <a:ext uri="{FF2B5EF4-FFF2-40B4-BE49-F238E27FC236}">
                <a16:creationId xmlns:a16="http://schemas.microsoft.com/office/drawing/2014/main" id="{C947DF4A-614C-4B4C-8B80-E5B9D8E8CF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892143" y="2085703"/>
            <a:ext cx="35661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ontent Placeholder 8">
            <a:extLst>
              <a:ext uri="{FF2B5EF4-FFF2-40B4-BE49-F238E27FC236}">
                <a16:creationId xmlns:a16="http://schemas.microsoft.com/office/drawing/2014/main" id="{AE94243A-3993-AFDB-00DE-B02721821F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59485" y="2198914"/>
            <a:ext cx="3690257" cy="3670180"/>
          </a:xfrm>
        </p:spPr>
        <p:txBody>
          <a:bodyPr>
            <a:normAutofit/>
          </a:bodyPr>
          <a:lstStyle/>
          <a:p>
            <a:pPr marL="155448" lvl="1" indent="0">
              <a:buNone/>
            </a:pPr>
            <a:r>
              <a:rPr lang="fr-BE" dirty="0"/>
              <a:t>Find the shortest route to deliver items from a main store to its multiple branches, assuming there are roads to move in between branches.</a:t>
            </a:r>
          </a:p>
        </p:txBody>
      </p:sp>
      <p:sp>
        <p:nvSpPr>
          <p:cNvPr id="6155" name="Rectangle 6154">
            <a:extLst>
              <a:ext uri="{FF2B5EF4-FFF2-40B4-BE49-F238E27FC236}">
                <a16:creationId xmlns:a16="http://schemas.microsoft.com/office/drawing/2014/main" id="{1E299956-A9E7-4FC1-A0B1-D590CA9730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157" name="Rectangle 6156">
            <a:extLst>
              <a:ext uri="{FF2B5EF4-FFF2-40B4-BE49-F238E27FC236}">
                <a16:creationId xmlns:a16="http://schemas.microsoft.com/office/drawing/2014/main" id="{17FC539C-B783-4B03-9F9E-D13430F3F6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4194198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75" name="Rectangle 7174">
            <a:extLst>
              <a:ext uri="{FF2B5EF4-FFF2-40B4-BE49-F238E27FC236}">
                <a16:creationId xmlns:a16="http://schemas.microsoft.com/office/drawing/2014/main" id="{3DE3B93A-6105-4E0D-ABE7-1711117A80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F8B4AEB-8E84-4876-9D38-8407308322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256" y="642257"/>
            <a:ext cx="3417677" cy="5226837"/>
          </a:xfrm>
        </p:spPr>
        <p:txBody>
          <a:bodyPr anchor="t">
            <a:normAutofit/>
          </a:bodyPr>
          <a:lstStyle/>
          <a:p>
            <a:r>
              <a:rPr lang="en-ZA" dirty="0"/>
              <a:t>Genetic code formation</a:t>
            </a:r>
            <a:endParaRPr lang="fr-BE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51D9188-7640-4089-80B5-C205710D77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3512" y="642258"/>
            <a:ext cx="6847117" cy="3091682"/>
          </a:xfrm>
        </p:spPr>
        <p:txBody>
          <a:bodyPr>
            <a:normAutofit/>
          </a:bodyPr>
          <a:lstStyle/>
          <a:p>
            <a:r>
              <a:rPr lang="en-GB" b="0" i="0">
                <a:effectLst/>
                <a:latin typeface="Montserrat" panose="00000500000000000000" pitchFamily="2" charset="0"/>
              </a:rPr>
              <a:t>The problem consists of finding the </a:t>
            </a:r>
            <a:r>
              <a:rPr lang="en-GB" b="1" i="0">
                <a:effectLst/>
                <a:latin typeface="Montserrat" panose="00000500000000000000" pitchFamily="2" charset="0"/>
              </a:rPr>
              <a:t>best permutation of n stores</a:t>
            </a:r>
            <a:r>
              <a:rPr lang="en-GB" b="0" i="0">
                <a:effectLst/>
                <a:latin typeface="Montserrat" panose="00000500000000000000" pitchFamily="2" charset="0"/>
              </a:rPr>
              <a:t>. Thus, the genetic code of a population individual genetic code consists of a </a:t>
            </a:r>
            <a:r>
              <a:rPr lang="en-GB" b="1" i="0">
                <a:effectLst/>
                <a:latin typeface="Montserrat" panose="00000500000000000000" pitchFamily="2" charset="0"/>
              </a:rPr>
              <a:t>given permutation of the n stores</a:t>
            </a:r>
            <a:r>
              <a:rPr lang="en-GB" b="0" i="0">
                <a:effectLst/>
                <a:latin typeface="Montserrat" panose="00000500000000000000" pitchFamily="2" charset="0"/>
              </a:rPr>
              <a:t>.</a:t>
            </a:r>
            <a:endParaRPr lang="en-ZA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3B225033-C86F-B103-CB21-1517A8F122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469648" y="3733940"/>
            <a:ext cx="8090982" cy="20834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177" name="Rectangle 7176">
            <a:extLst>
              <a:ext uri="{FF2B5EF4-FFF2-40B4-BE49-F238E27FC236}">
                <a16:creationId xmlns:a16="http://schemas.microsoft.com/office/drawing/2014/main" id="{1924D57B-FEC9-4779-B514-732685B876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179" name="Rectangle 7178">
            <a:extLst>
              <a:ext uri="{FF2B5EF4-FFF2-40B4-BE49-F238E27FC236}">
                <a16:creationId xmlns:a16="http://schemas.microsoft.com/office/drawing/2014/main" id="{55EFD2BD-6E0E-4450-A3FF-5D1EA322A3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9931084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75" name="Rectangle 7174">
            <a:extLst>
              <a:ext uri="{FF2B5EF4-FFF2-40B4-BE49-F238E27FC236}">
                <a16:creationId xmlns:a16="http://schemas.microsoft.com/office/drawing/2014/main" id="{3DE3B93A-6105-4E0D-ABE7-1711117A80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F8B4AEB-8E84-4876-9D38-8407308322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256" y="642257"/>
            <a:ext cx="3417677" cy="5226837"/>
          </a:xfrm>
        </p:spPr>
        <p:txBody>
          <a:bodyPr anchor="t">
            <a:normAutofit/>
          </a:bodyPr>
          <a:lstStyle/>
          <a:p>
            <a:r>
              <a:rPr lang="en-ZA" dirty="0"/>
              <a:t>Fitness function</a:t>
            </a:r>
            <a:endParaRPr lang="fr-BE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51D9188-7640-4089-80B5-C205710D77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3512" y="642258"/>
            <a:ext cx="6847117" cy="3091682"/>
          </a:xfrm>
        </p:spPr>
        <p:txBody>
          <a:bodyPr>
            <a:normAutofit/>
          </a:bodyPr>
          <a:lstStyle/>
          <a:p>
            <a:r>
              <a:rPr lang="en-GB" b="0" i="0" dirty="0">
                <a:effectLst/>
                <a:latin typeface="Montserrat" panose="00000500000000000000" pitchFamily="2" charset="0"/>
              </a:rPr>
              <a:t>The fitness function to solve the problem is the total distance from the supply point through branch to branch:</a:t>
            </a:r>
            <a:endParaRPr lang="en-ZA" dirty="0"/>
          </a:p>
        </p:txBody>
      </p:sp>
      <p:sp>
        <p:nvSpPr>
          <p:cNvPr id="7177" name="Rectangle 7176">
            <a:extLst>
              <a:ext uri="{FF2B5EF4-FFF2-40B4-BE49-F238E27FC236}">
                <a16:creationId xmlns:a16="http://schemas.microsoft.com/office/drawing/2014/main" id="{1924D57B-FEC9-4779-B514-732685B876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179" name="Rectangle 7178">
            <a:extLst>
              <a:ext uri="{FF2B5EF4-FFF2-40B4-BE49-F238E27FC236}">
                <a16:creationId xmlns:a16="http://schemas.microsoft.com/office/drawing/2014/main" id="{55EFD2BD-6E0E-4450-A3FF-5D1EA322A3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E9CE9248-409C-BD51-F4B5-0590359EA9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4923" y="3167158"/>
            <a:ext cx="8450275" cy="9988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120073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223" name="Rectangle 9222">
            <a:extLst>
              <a:ext uri="{FF2B5EF4-FFF2-40B4-BE49-F238E27FC236}">
                <a16:creationId xmlns:a16="http://schemas.microsoft.com/office/drawing/2014/main" id="{44CC594A-A820-450F-B363-C19201FCFE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25" name="Rectangle 9224">
            <a:extLst>
              <a:ext uri="{FF2B5EF4-FFF2-40B4-BE49-F238E27FC236}">
                <a16:creationId xmlns:a16="http://schemas.microsoft.com/office/drawing/2014/main" id="{59FAB3DA-E9ED-4574-ABCC-378BC0FF1B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F8B4AEB-8E84-4876-9D38-8407308322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0" y="516835"/>
            <a:ext cx="3084844" cy="2103875"/>
          </a:xfrm>
        </p:spPr>
        <p:txBody>
          <a:bodyPr>
            <a:normAutofit/>
          </a:bodyPr>
          <a:lstStyle/>
          <a:p>
            <a:r>
              <a:rPr lang="en-ZA" sz="3600">
                <a:solidFill>
                  <a:srgbClr val="FFFFFF"/>
                </a:solidFill>
              </a:rPr>
              <a:t>Crossover operator</a:t>
            </a:r>
            <a:endParaRPr lang="fr-BE" sz="3600">
              <a:solidFill>
                <a:srgbClr val="FFFFFF"/>
              </a:solidFill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51D9188-7640-4089-80B5-C205710D77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2371" y="2653800"/>
            <a:ext cx="3084844" cy="3335519"/>
          </a:xfrm>
        </p:spPr>
        <p:txBody>
          <a:bodyPr>
            <a:normAutofit/>
          </a:bodyPr>
          <a:lstStyle/>
          <a:p>
            <a:r>
              <a:rPr lang="en-GB" sz="1500" b="0" i="0" dirty="0">
                <a:solidFill>
                  <a:srgbClr val="FFFFFF"/>
                </a:solidFill>
                <a:effectLst/>
                <a:latin typeface="Montserrat" panose="00000500000000000000" pitchFamily="2" charset="0"/>
              </a:rPr>
              <a:t>Crossover is performed by inbreeding two parents to get a better individual of the -two. There could be several inbreeding approaches to the problem, nevertheless, an </a:t>
            </a:r>
            <a:r>
              <a:rPr lang="en-GB" sz="1500" b="1" i="0" dirty="0">
                <a:solidFill>
                  <a:srgbClr val="FFFFFF"/>
                </a:solidFill>
                <a:effectLst/>
                <a:latin typeface="Montserrat" panose="00000500000000000000" pitchFamily="2" charset="0"/>
              </a:rPr>
              <a:t>ordered crossover </a:t>
            </a:r>
            <a:r>
              <a:rPr lang="en-GB" sz="1500" b="0" i="0" dirty="0">
                <a:solidFill>
                  <a:srgbClr val="FFFFFF"/>
                </a:solidFill>
                <a:effectLst/>
                <a:latin typeface="Montserrat" panose="00000500000000000000" pitchFamily="2" charset="0"/>
              </a:rPr>
              <a:t>approach is used in the current implementation.</a:t>
            </a:r>
            <a:r>
              <a:rPr lang="en-GB" sz="1400" b="0" i="0" dirty="0">
                <a:solidFill>
                  <a:srgbClr val="4B4F58"/>
                </a:solidFill>
                <a:effectLst/>
                <a:latin typeface="Montserrat" panose="00000500000000000000" pitchFamily="2" charset="0"/>
              </a:rPr>
              <a:t> </a:t>
            </a:r>
            <a:endParaRPr lang="en-ZA" sz="1500" dirty="0">
              <a:solidFill>
                <a:srgbClr val="FFFFFF"/>
              </a:solidFill>
            </a:endParaRPr>
          </a:p>
        </p:txBody>
      </p:sp>
      <p:sp>
        <p:nvSpPr>
          <p:cNvPr id="9227" name="Rectangle 9226">
            <a:extLst>
              <a:ext uri="{FF2B5EF4-FFF2-40B4-BE49-F238E27FC236}">
                <a16:creationId xmlns:a16="http://schemas.microsoft.com/office/drawing/2014/main" id="{53B8D6B0-55D6-48DC-86D8-FD95D5F118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9218" name="Picture 2" descr="crossover">
            <a:extLst>
              <a:ext uri="{FF2B5EF4-FFF2-40B4-BE49-F238E27FC236}">
                <a16:creationId xmlns:a16="http://schemas.microsoft.com/office/drawing/2014/main" id="{D0168B42-77A6-0677-84FB-37587C9413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742017" y="1865441"/>
            <a:ext cx="6798082" cy="31271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FEFEE84-D07F-4938-4B78-0EFE77E8BF6D}"/>
              </a:ext>
            </a:extLst>
          </p:cNvPr>
          <p:cNvSpPr txBox="1"/>
          <p:nvPr/>
        </p:nvSpPr>
        <p:spPr>
          <a:xfrm>
            <a:off x="5010304" y="5332162"/>
            <a:ext cx="609337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0" i="0" dirty="0">
                <a:solidFill>
                  <a:srgbClr val="4B4F58"/>
                </a:solidFill>
                <a:effectLst/>
                <a:latin typeface="Montserrat" panose="00000500000000000000" pitchFamily="2" charset="0"/>
              </a:rPr>
              <a:t>A portion of the genes of one parent is selected and appended </a:t>
            </a:r>
            <a:r>
              <a:rPr lang="en-GB" sz="1800" b="1" i="0" dirty="0">
                <a:solidFill>
                  <a:srgbClr val="4B4F58"/>
                </a:solidFill>
                <a:effectLst/>
                <a:latin typeface="Montserrat" panose="00000500000000000000" pitchFamily="2" charset="0"/>
              </a:rPr>
              <a:t>in order</a:t>
            </a:r>
            <a:r>
              <a:rPr lang="en-GB" sz="1800" b="0" i="0" dirty="0">
                <a:solidFill>
                  <a:srgbClr val="4B4F58"/>
                </a:solidFill>
                <a:effectLst/>
                <a:latin typeface="Montserrat" panose="00000500000000000000" pitchFamily="2" charset="0"/>
              </a:rPr>
              <a:t> and </a:t>
            </a:r>
            <a:r>
              <a:rPr lang="en-GB" sz="1800" b="1" i="0" dirty="0">
                <a:solidFill>
                  <a:srgbClr val="4B4F58"/>
                </a:solidFill>
                <a:effectLst/>
                <a:latin typeface="Montserrat" panose="00000500000000000000" pitchFamily="2" charset="0"/>
              </a:rPr>
              <a:t>no repetition </a:t>
            </a:r>
            <a:r>
              <a:rPr lang="en-GB" sz="1800" b="0" i="0" dirty="0">
                <a:solidFill>
                  <a:srgbClr val="4B4F58"/>
                </a:solidFill>
                <a:effectLst/>
                <a:latin typeface="Montserrat" panose="00000500000000000000" pitchFamily="2" charset="0"/>
              </a:rPr>
              <a:t>with the remaining genes of the other parent 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7949487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247" name="Rectangle 10246">
            <a:extLst>
              <a:ext uri="{FF2B5EF4-FFF2-40B4-BE49-F238E27FC236}">
                <a16:creationId xmlns:a16="http://schemas.microsoft.com/office/drawing/2014/main" id="{44CC594A-A820-450F-B363-C19201FCFE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49" name="Rectangle 10248">
            <a:extLst>
              <a:ext uri="{FF2B5EF4-FFF2-40B4-BE49-F238E27FC236}">
                <a16:creationId xmlns:a16="http://schemas.microsoft.com/office/drawing/2014/main" id="{59FAB3DA-E9ED-4574-ABCC-378BC0FF1B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F8B4AEB-8E84-4876-9D38-8407308322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0" y="516835"/>
            <a:ext cx="3084844" cy="2103875"/>
          </a:xfrm>
        </p:spPr>
        <p:txBody>
          <a:bodyPr>
            <a:normAutofit/>
          </a:bodyPr>
          <a:lstStyle/>
          <a:p>
            <a:r>
              <a:rPr lang="en-ZA" sz="3600">
                <a:solidFill>
                  <a:srgbClr val="FFFFFF"/>
                </a:solidFill>
              </a:rPr>
              <a:t>Mutation Operator</a:t>
            </a:r>
            <a:endParaRPr lang="fr-BE" sz="3600">
              <a:solidFill>
                <a:srgbClr val="FFFFFF"/>
              </a:solidFill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51D9188-7640-4089-80B5-C205710D77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2371" y="2653800"/>
            <a:ext cx="3084844" cy="3335519"/>
          </a:xfrm>
        </p:spPr>
        <p:txBody>
          <a:bodyPr>
            <a:normAutofit/>
          </a:bodyPr>
          <a:lstStyle/>
          <a:p>
            <a:r>
              <a:rPr lang="en-GB" sz="1500" b="0" i="0">
                <a:solidFill>
                  <a:srgbClr val="FFFFFF"/>
                </a:solidFill>
                <a:effectLst/>
                <a:latin typeface="Montserrat" panose="00000500000000000000" pitchFamily="2" charset="0"/>
              </a:rPr>
              <a:t>In the mutation process, a </a:t>
            </a:r>
            <a:r>
              <a:rPr lang="en-GB" sz="1500" b="1" i="0">
                <a:solidFill>
                  <a:srgbClr val="FFFFFF"/>
                </a:solidFill>
                <a:effectLst/>
                <a:latin typeface="Montserrat" panose="00000500000000000000" pitchFamily="2" charset="0"/>
              </a:rPr>
              <a:t>portion of the sequence </a:t>
            </a:r>
            <a:r>
              <a:rPr lang="en-GB" sz="1500" b="0" i="0">
                <a:solidFill>
                  <a:srgbClr val="FFFFFF"/>
                </a:solidFill>
                <a:effectLst/>
                <a:latin typeface="Montserrat" panose="00000500000000000000" pitchFamily="2" charset="0"/>
              </a:rPr>
              <a:t>is selected and reshuffled to create a new individual</a:t>
            </a:r>
            <a:endParaRPr lang="en-ZA" sz="1500">
              <a:solidFill>
                <a:srgbClr val="FFFFFF"/>
              </a:solidFill>
            </a:endParaRPr>
          </a:p>
        </p:txBody>
      </p:sp>
      <p:sp>
        <p:nvSpPr>
          <p:cNvPr id="10251" name="Rectangle 10250">
            <a:extLst>
              <a:ext uri="{FF2B5EF4-FFF2-40B4-BE49-F238E27FC236}">
                <a16:creationId xmlns:a16="http://schemas.microsoft.com/office/drawing/2014/main" id="{53B8D6B0-55D6-48DC-86D8-FD95D5F118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04B110AB-BAC8-519C-9082-A89613B5CE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742017" y="2392293"/>
            <a:ext cx="6798082" cy="20734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706633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23" name="Rectangle 13322">
            <a:extLst>
              <a:ext uri="{FF2B5EF4-FFF2-40B4-BE49-F238E27FC236}">
                <a16:creationId xmlns:a16="http://schemas.microsoft.com/office/drawing/2014/main" id="{3F87243A-F810-42AD-AA74-3FA38B1D8A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325" name="Rectangle 13324">
            <a:extLst>
              <a:ext uri="{FF2B5EF4-FFF2-40B4-BE49-F238E27FC236}">
                <a16:creationId xmlns:a16="http://schemas.microsoft.com/office/drawing/2014/main" id="{E4710C0A-057C-4274-BA2D-001F1025E8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3327" name="Straight Connector 13326">
            <a:extLst>
              <a:ext uri="{FF2B5EF4-FFF2-40B4-BE49-F238E27FC236}">
                <a16:creationId xmlns:a16="http://schemas.microsoft.com/office/drawing/2014/main" id="{BEFAE2A0-B30D-40C7-BB2F-AE3D6D5D00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3329" name="Rectangle 13328">
            <a:extLst>
              <a:ext uri="{FF2B5EF4-FFF2-40B4-BE49-F238E27FC236}">
                <a16:creationId xmlns:a16="http://schemas.microsoft.com/office/drawing/2014/main" id="{7527CA15-1C7B-4C0C-86EE-385C1D6C98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045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31" name="Rectangle 13330">
            <a:extLst>
              <a:ext uri="{FF2B5EF4-FFF2-40B4-BE49-F238E27FC236}">
                <a16:creationId xmlns:a16="http://schemas.microsoft.com/office/drawing/2014/main" id="{ED643915-9209-40AB-8194-9D9125C0A3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A9D7D3-B44A-7F4D-ACDB-EB164BC0CA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5197" y="5120640"/>
            <a:ext cx="10058400" cy="82296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>
                <a:solidFill>
                  <a:srgbClr val="FFFFFF"/>
                </a:solidFill>
              </a:rPr>
              <a:t>Search process - results</a:t>
            </a:r>
          </a:p>
        </p:txBody>
      </p:sp>
      <p:pic>
        <p:nvPicPr>
          <p:cNvPr id="13318" name="Picture 6">
            <a:extLst>
              <a:ext uri="{FF2B5EF4-FFF2-40B4-BE49-F238E27FC236}">
                <a16:creationId xmlns:a16="http://schemas.microsoft.com/office/drawing/2014/main" id="{C99C17B0-E7FB-67E7-85FC-204E8B9AE8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35458" y="1157744"/>
            <a:ext cx="3312784" cy="256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333" name="Rectangle 13332">
            <a:extLst>
              <a:ext uri="{FF2B5EF4-FFF2-40B4-BE49-F238E27FC236}">
                <a16:creationId xmlns:a16="http://schemas.microsoft.com/office/drawing/2014/main" id="{8A54198A-4950-48AB-BDD3-16D7F9084A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58553" y="886968"/>
            <a:ext cx="64008" cy="31089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314" name="Picture 2">
            <a:extLst>
              <a:ext uri="{FF2B5EF4-FFF2-40B4-BE49-F238E27FC236}">
                <a16:creationId xmlns:a16="http://schemas.microsoft.com/office/drawing/2014/main" id="{4A5494C6-4E6D-F9C2-1232-343556C1B1D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432872" y="1157744"/>
            <a:ext cx="3312785" cy="256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335" name="Rectangle 13334">
            <a:extLst>
              <a:ext uri="{FF2B5EF4-FFF2-40B4-BE49-F238E27FC236}">
                <a16:creationId xmlns:a16="http://schemas.microsoft.com/office/drawing/2014/main" id="{30F05B05-D1D0-4D96-A6C6-E0095E789E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55969" y="886968"/>
            <a:ext cx="64008" cy="31089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316" name="Picture 4">
            <a:extLst>
              <a:ext uri="{FF2B5EF4-FFF2-40B4-BE49-F238E27FC236}">
                <a16:creationId xmlns:a16="http://schemas.microsoft.com/office/drawing/2014/main" id="{DE43C064-59D3-854D-C153-9DC7666A57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230289" y="1157744"/>
            <a:ext cx="3312784" cy="256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337" name="Rectangle 13336">
            <a:extLst>
              <a:ext uri="{FF2B5EF4-FFF2-40B4-BE49-F238E27FC236}">
                <a16:creationId xmlns:a16="http://schemas.microsoft.com/office/drawing/2014/main" id="{6561554E-8EEC-420C-93A0-4E77A8A0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4906176"/>
            <a:ext cx="12188952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2306292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F8B4AEB-8E84-4876-9D38-8407308322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590" y="263527"/>
            <a:ext cx="10180820" cy="1450757"/>
          </a:xfrm>
        </p:spPr>
        <p:txBody>
          <a:bodyPr/>
          <a:lstStyle/>
          <a:p>
            <a:pPr algn="ctr"/>
            <a:r>
              <a:rPr lang="en-ZA" dirty="0"/>
              <a:t>GA-based feature selection</a:t>
            </a:r>
            <a:endParaRPr lang="fr-BE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172D630-9F90-4701-96F1-827578DE8E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ZA" sz="2800" dirty="0"/>
              <a:t>Genetic algorithm can also be used for wrapped-based feature selection</a:t>
            </a:r>
            <a:endParaRPr lang="fr-BE" sz="2200" b="1" dirty="0"/>
          </a:p>
        </p:txBody>
      </p:sp>
      <p:pic>
        <p:nvPicPr>
          <p:cNvPr id="11266" name="Picture 2" descr="GA based feature selection diagram. | Download Scientific Diagram">
            <a:extLst>
              <a:ext uri="{FF2B5EF4-FFF2-40B4-BE49-F238E27FC236}">
                <a16:creationId xmlns:a16="http://schemas.microsoft.com/office/drawing/2014/main" id="{0E648A91-CE9F-BD29-00BE-AF64154C4A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7712" y="2792138"/>
            <a:ext cx="5582963" cy="3638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314658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F8B4AEB-8E84-4876-9D38-8407308322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590" y="263527"/>
            <a:ext cx="10180820" cy="1450757"/>
          </a:xfrm>
        </p:spPr>
        <p:txBody>
          <a:bodyPr/>
          <a:lstStyle/>
          <a:p>
            <a:pPr algn="ctr"/>
            <a:r>
              <a:rPr lang="en-ZA" dirty="0"/>
              <a:t>Problem exercise</a:t>
            </a:r>
            <a:endParaRPr lang="fr-BE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172D630-9F90-4701-96F1-827578DE8E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55448" lvl="1" indent="0">
              <a:buNone/>
            </a:pPr>
            <a:r>
              <a:rPr lang="fr-BE" sz="2600" dirty="0" err="1"/>
              <a:t>Using</a:t>
            </a:r>
            <a:r>
              <a:rPr lang="fr-BE" sz="2600" dirty="0"/>
              <a:t> the ``</a:t>
            </a:r>
            <a:r>
              <a:rPr lang="fr-BE" sz="2600" b="1" dirty="0" err="1"/>
              <a:t>health-diabetes</a:t>
            </a:r>
            <a:r>
              <a:rPr lang="fr-BE" sz="2600" b="1" dirty="0"/>
              <a:t>’’</a:t>
            </a:r>
            <a:r>
              <a:rPr lang="fr-BE" sz="2600" dirty="0"/>
              <a:t> </a:t>
            </a:r>
            <a:r>
              <a:rPr lang="fr-BE" sz="2600" dirty="0" err="1"/>
              <a:t>datasets</a:t>
            </a:r>
            <a:r>
              <a:rPr lang="fr-BE" sz="2600" dirty="0"/>
              <a:t>, and </a:t>
            </a:r>
            <a:r>
              <a:rPr lang="fr-BE" sz="2600" dirty="0" err="1"/>
              <a:t>logistic</a:t>
            </a:r>
            <a:r>
              <a:rPr lang="fr-BE" sz="2600" dirty="0"/>
              <a:t> </a:t>
            </a:r>
            <a:r>
              <a:rPr lang="fr-BE" sz="2600" dirty="0" err="1"/>
              <a:t>regression</a:t>
            </a:r>
            <a:r>
              <a:rPr lang="fr-BE" sz="2600" dirty="0"/>
              <a:t>, </a:t>
            </a:r>
            <a:r>
              <a:rPr lang="fr-BE" sz="2600" dirty="0" err="1"/>
              <a:t>find</a:t>
            </a:r>
            <a:r>
              <a:rPr lang="fr-BE" sz="2600" dirty="0"/>
              <a:t> an optimal </a:t>
            </a:r>
            <a:r>
              <a:rPr lang="fr-BE" sz="2600" dirty="0" err="1"/>
              <a:t>feature</a:t>
            </a:r>
            <a:r>
              <a:rPr lang="fr-BE" sz="2600" dirty="0"/>
              <a:t> </a:t>
            </a:r>
            <a:r>
              <a:rPr lang="fr-BE" sz="2600" dirty="0" err="1"/>
              <a:t>subset</a:t>
            </a:r>
            <a:r>
              <a:rPr lang="fr-BE" sz="2600" dirty="0"/>
              <a:t>. </a:t>
            </a:r>
            <a:r>
              <a:rPr lang="fr-BE" sz="2600" dirty="0" err="1"/>
              <a:t>Make</a:t>
            </a:r>
            <a:r>
              <a:rPr lang="fr-BE" sz="2600" dirty="0"/>
              <a:t> use of the </a:t>
            </a:r>
            <a:r>
              <a:rPr lang="fr-BE" sz="2600" b="1" dirty="0" err="1"/>
              <a:t>sklearn-genetic</a:t>
            </a:r>
            <a:r>
              <a:rPr lang="fr-BE" sz="2600" b="1" dirty="0"/>
              <a:t> </a:t>
            </a:r>
            <a:r>
              <a:rPr lang="fr-BE" sz="2600" dirty="0"/>
              <a:t>package.</a:t>
            </a:r>
          </a:p>
          <a:p>
            <a:pPr marL="155448" lvl="1" indent="0">
              <a:buNone/>
            </a:pPr>
            <a:endParaRPr lang="fr-BE" sz="2600" dirty="0"/>
          </a:p>
          <a:p>
            <a:pPr marL="155448" lvl="1" indent="0">
              <a:buNone/>
            </a:pPr>
            <a:endParaRPr lang="fr-BE" sz="2600" dirty="0"/>
          </a:p>
          <a:p>
            <a:pPr marL="155448" lvl="1" indent="0">
              <a:buNone/>
            </a:pPr>
            <a:r>
              <a:rPr lang="fr-BE" sz="2600" dirty="0"/>
              <a:t>You </a:t>
            </a:r>
            <a:r>
              <a:rPr lang="fr-BE" sz="2600" dirty="0" err="1"/>
              <a:t>may</a:t>
            </a:r>
            <a:r>
              <a:rPr lang="fr-BE" sz="2600" dirty="0"/>
              <a:t> use the </a:t>
            </a:r>
            <a:r>
              <a:rPr lang="fr-BE" sz="2600" dirty="0" err="1"/>
              <a:t>attached</a:t>
            </a:r>
            <a:r>
              <a:rPr lang="fr-BE" sz="2600" dirty="0"/>
              <a:t> </a:t>
            </a:r>
            <a:r>
              <a:rPr lang="fr-BE" sz="2600" dirty="0" err="1"/>
              <a:t>template</a:t>
            </a:r>
            <a:r>
              <a:rPr lang="fr-BE" sz="2600" dirty="0"/>
              <a:t> codes.</a:t>
            </a: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CDA82E63-AE4B-4AFB-AD15-7B4591AF590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59436943"/>
              </p:ext>
            </p:extLst>
          </p:nvPr>
        </p:nvGraphicFramePr>
        <p:xfrm>
          <a:off x="5803517" y="4333820"/>
          <a:ext cx="3613872" cy="15352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ackager Shell Object" showAsIcon="1" r:id="rId2" imgW="1151280" imgH="488520" progId="Package">
                  <p:embed/>
                </p:oleObj>
              </mc:Choice>
              <mc:Fallback>
                <p:oleObj name="Packager Shell Object" showAsIcon="1" r:id="rId2" imgW="1151280" imgH="48852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803517" y="4333820"/>
                        <a:ext cx="3613872" cy="153527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529124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A26FB8-DCFC-40BC-B7B5-35B4EC1725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467" y="2864912"/>
            <a:ext cx="10058400" cy="1450757"/>
          </a:xfrm>
        </p:spPr>
        <p:txBody>
          <a:bodyPr/>
          <a:lstStyle/>
          <a:p>
            <a:pPr algn="ctr"/>
            <a:r>
              <a:rPr lang="en-ZA" dirty="0"/>
              <a:t>THANK YOU</a:t>
            </a:r>
            <a:endParaRPr lang="fr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EC543F-A448-4D5E-BD37-91340EFF76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01168" lvl="1" indent="0">
              <a:buNone/>
            </a:pPr>
            <a:endParaRPr lang="en-US" sz="2400" dirty="0"/>
          </a:p>
          <a:p>
            <a:pPr marL="201168" lvl="1" indent="0">
              <a:buNone/>
            </a:pPr>
            <a:endParaRPr lang="en-ZA" sz="2400" dirty="0"/>
          </a:p>
          <a:p>
            <a:pPr marL="201168" lvl="1" indent="0">
              <a:buNone/>
            </a:pPr>
            <a:endParaRPr lang="en-ZA" sz="2400" dirty="0"/>
          </a:p>
          <a:p>
            <a:pPr marL="201168" lvl="1" indent="0">
              <a:buNone/>
            </a:pPr>
            <a:endParaRPr lang="en-ZA" sz="2400" dirty="0"/>
          </a:p>
          <a:p>
            <a:pPr marL="384048" lvl="2" indent="0">
              <a:buNone/>
            </a:pPr>
            <a:endParaRPr lang="en-ZA" sz="2000" dirty="0"/>
          </a:p>
          <a:p>
            <a:pPr marL="841248" lvl="2" indent="-457200">
              <a:buAutoNum type="arabicPeriod"/>
            </a:pPr>
            <a:endParaRPr lang="en-ZA" sz="2000" dirty="0"/>
          </a:p>
        </p:txBody>
      </p:sp>
    </p:spTree>
    <p:extLst>
      <p:ext uri="{BB962C8B-B14F-4D97-AF65-F5344CB8AC3E}">
        <p14:creationId xmlns:p14="http://schemas.microsoft.com/office/powerpoint/2010/main" val="3748758603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1550</TotalTime>
  <Words>593</Words>
  <Application>Microsoft Office PowerPoint</Application>
  <PresentationFormat>Widescreen</PresentationFormat>
  <Paragraphs>70</Paragraphs>
  <Slides>24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2" baseType="lpstr">
      <vt:lpstr>Arial</vt:lpstr>
      <vt:lpstr>Calibri</vt:lpstr>
      <vt:lpstr>Calibri Light</vt:lpstr>
      <vt:lpstr>Montserrat</vt:lpstr>
      <vt:lpstr>Söhne</vt:lpstr>
      <vt:lpstr>Wingdings</vt:lpstr>
      <vt:lpstr>Retrospect</vt:lpstr>
      <vt:lpstr>Package</vt:lpstr>
      <vt:lpstr>Genetic Algorithms  “Survival of the fittest”</vt:lpstr>
      <vt:lpstr>Outline</vt:lpstr>
      <vt:lpstr>Genetic algorithms</vt:lpstr>
      <vt:lpstr>Genetic algorithm</vt:lpstr>
      <vt:lpstr>Genetic algorithm</vt:lpstr>
      <vt:lpstr>Components of a genetic process</vt:lpstr>
      <vt:lpstr>Genetic code</vt:lpstr>
      <vt:lpstr>Genetic code</vt:lpstr>
      <vt:lpstr>Fitness function</vt:lpstr>
      <vt:lpstr>Population initialisation</vt:lpstr>
      <vt:lpstr>Elitism</vt:lpstr>
      <vt:lpstr>Crossover</vt:lpstr>
      <vt:lpstr>Mutation</vt:lpstr>
      <vt:lpstr>Typical GA pseudocode</vt:lpstr>
      <vt:lpstr>Example problem: shortest route problem</vt:lpstr>
      <vt:lpstr>Shortest route problem</vt:lpstr>
      <vt:lpstr>Genetic code formation</vt:lpstr>
      <vt:lpstr>Fitness function</vt:lpstr>
      <vt:lpstr>Crossover operator</vt:lpstr>
      <vt:lpstr>Mutation Operator</vt:lpstr>
      <vt:lpstr>Search process - results</vt:lpstr>
      <vt:lpstr>GA-based feature selection</vt:lpstr>
      <vt:lpstr>Problem exercise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Advanced analytical Theory and Methods: Clustering  “Grouping similar objects”</dc:title>
  <dc:creator>Yves Matanga</dc:creator>
  <cp:lastModifiedBy>Ngoma Matanga</cp:lastModifiedBy>
  <cp:revision>117</cp:revision>
  <dcterms:created xsi:type="dcterms:W3CDTF">2020-05-02T06:44:21Z</dcterms:created>
  <dcterms:modified xsi:type="dcterms:W3CDTF">2023-11-08T05:16:54Z</dcterms:modified>
</cp:coreProperties>
</file>