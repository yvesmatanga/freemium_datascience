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4"/>
  </p:sldMasterIdLst>
  <p:notesMasterIdLst>
    <p:notesMasterId r:id="rId29"/>
  </p:notesMasterIdLst>
  <p:sldIdLst>
    <p:sldId id="256" r:id="rId5"/>
    <p:sldId id="257" r:id="rId6"/>
    <p:sldId id="258" r:id="rId7"/>
    <p:sldId id="305" r:id="rId8"/>
    <p:sldId id="362" r:id="rId9"/>
    <p:sldId id="363" r:id="rId10"/>
    <p:sldId id="364" r:id="rId11"/>
    <p:sldId id="365" r:id="rId12"/>
    <p:sldId id="348" r:id="rId13"/>
    <p:sldId id="361" r:id="rId14"/>
    <p:sldId id="352" r:id="rId15"/>
    <p:sldId id="353" r:id="rId16"/>
    <p:sldId id="342" r:id="rId17"/>
    <p:sldId id="261" r:id="rId18"/>
    <p:sldId id="366" r:id="rId19"/>
    <p:sldId id="367" r:id="rId20"/>
    <p:sldId id="368" r:id="rId21"/>
    <p:sldId id="357" r:id="rId22"/>
    <p:sldId id="358" r:id="rId23"/>
    <p:sldId id="359" r:id="rId24"/>
    <p:sldId id="360" r:id="rId25"/>
    <p:sldId id="335" r:id="rId26"/>
    <p:sldId id="336" r:id="rId27"/>
    <p:sldId id="278" r:id="rId28"/>
  </p:sldIdLst>
  <p:sldSz cx="9144000" cy="5143500" type="screen16x9"/>
  <p:notesSz cx="6858000" cy="9144000"/>
  <p:embeddedFontLst>
    <p:embeddedFont>
      <p:font typeface="Calibri" panose="020F0502020204030204" pitchFamily="34" charset="0"/>
      <p:regular r:id="rId30"/>
      <p:bold r:id="rId31"/>
      <p:italic r:id="rId32"/>
      <p:boldItalic r:id="rId33"/>
    </p:embeddedFont>
    <p:embeddedFont>
      <p:font typeface="Dosis ExtraLight" panose="020B0604020202020204" charset="0"/>
      <p:regular r:id="rId34"/>
      <p:bold r:id="rId35"/>
    </p:embeddedFont>
    <p:embeddedFont>
      <p:font typeface="Titillium Web Light"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90F7E-F48D-46C3-9F3E-EC5015F778A2}" v="1" dt="2022-11-21T07:26:46.184"/>
  </p1510:revLst>
</p1510:revInfo>
</file>

<file path=ppt/tableStyles.xml><?xml version="1.0" encoding="utf-8"?>
<a:tblStyleLst xmlns:a="http://schemas.openxmlformats.org/drawingml/2006/main" def="{0F24753E-8A85-4BEE-97E2-441CDA198357}">
  <a:tblStyle styleId="{0F24753E-8A85-4BEE-97E2-441CDA19835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787F38-7B79-44E3-ACA7-109338EB0D0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0.fntdata"/><Relationship Id="rId21" Type="http://schemas.openxmlformats.org/officeDocument/2006/relationships/slide" Target="slides/slide17.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hinde Oladele" userId="b31f3346395b58f1" providerId="LiveId" clId="{BACD8765-3285-4A34-9316-2FA0996A2250}"/>
    <pc:docChg chg="modSld">
      <pc:chgData name="Kehinde Oladele" userId="b31f3346395b58f1" providerId="LiveId" clId="{BACD8765-3285-4A34-9316-2FA0996A2250}" dt="2022-05-01T11:33:02.769" v="0" actId="122"/>
      <pc:docMkLst>
        <pc:docMk/>
      </pc:docMkLst>
      <pc:sldChg chg="modSp mod">
        <pc:chgData name="Kehinde Oladele" userId="b31f3346395b58f1" providerId="LiveId" clId="{BACD8765-3285-4A34-9316-2FA0996A2250}" dt="2022-05-01T11:33:02.769" v="0" actId="122"/>
        <pc:sldMkLst>
          <pc:docMk/>
          <pc:sldMk cId="0" sldId="268"/>
        </pc:sldMkLst>
        <pc:spChg chg="mod">
          <ac:chgData name="Kehinde Oladele" userId="b31f3346395b58f1" providerId="LiveId" clId="{BACD8765-3285-4A34-9316-2FA0996A2250}" dt="2022-05-01T11:33:02.769" v="0" actId="122"/>
          <ac:spMkLst>
            <pc:docMk/>
            <pc:sldMk cId="0" sldId="268"/>
            <ac:spMk id="3937" creationId="{00000000-0000-0000-0000-000000000000}"/>
          </ac:spMkLst>
        </pc:spChg>
      </pc:sldChg>
    </pc:docChg>
  </pc:docChgLst>
  <pc:docChgLst>
    <pc:chgData name="Zara Kara" userId="S::llh1kvmp5@vossie.net::7374a18d-ec1e-4d0f-9ae1-4ca17a77cf9c" providerId="AD" clId="Web-{E4590F7E-F48D-46C3-9F3E-EC5015F778A2}"/>
    <pc:docChg chg="modSld">
      <pc:chgData name="Zara Kara" userId="S::llh1kvmp5@vossie.net::7374a18d-ec1e-4d0f-9ae1-4ca17a77cf9c" providerId="AD" clId="Web-{E4590F7E-F48D-46C3-9F3E-EC5015F778A2}" dt="2022-11-21T07:26:46.184" v="0" actId="1076"/>
      <pc:docMkLst>
        <pc:docMk/>
      </pc:docMkLst>
      <pc:sldChg chg="modSp">
        <pc:chgData name="Zara Kara" userId="S::llh1kvmp5@vossie.net::7374a18d-ec1e-4d0f-9ae1-4ca17a77cf9c" providerId="AD" clId="Web-{E4590F7E-F48D-46C3-9F3E-EC5015F778A2}" dt="2022-11-21T07:26:46.184" v="0" actId="1076"/>
        <pc:sldMkLst>
          <pc:docMk/>
          <pc:sldMk cId="2738809462" sldId="353"/>
        </pc:sldMkLst>
        <pc:picChg chg="mod">
          <ac:chgData name="Zara Kara" userId="S::llh1kvmp5@vossie.net::7374a18d-ec1e-4d0f-9ae1-4ca17a77cf9c" providerId="AD" clId="Web-{E4590F7E-F48D-46C3-9F3E-EC5015F778A2}" dt="2022-11-21T07:26:46.184" v="0" actId="1076"/>
          <ac:picMkLst>
            <pc:docMk/>
            <pc:sldMk cId="2738809462" sldId="353"/>
            <ac:picMk id="5" creationId="{F51ADAD9-0888-8DED-A24D-7B65C1DB8CC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2966990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593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1880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0007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3"/>
        <p:cNvGrpSpPr/>
        <p:nvPr/>
      </p:nvGrpSpPr>
      <p:grpSpPr>
        <a:xfrm>
          <a:off x="0" y="0"/>
          <a:ext cx="0" cy="0"/>
          <a:chOff x="0" y="0"/>
          <a:chExt cx="0" cy="0"/>
        </a:xfrm>
      </p:grpSpPr>
      <p:sp>
        <p:nvSpPr>
          <p:cNvPr id="3874" name="Google Shape;387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5" name="Google Shape;387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1044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9682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990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7584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9817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192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0675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889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458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p:cNvGrpSpPr/>
        <p:nvPr/>
      </p:nvGrpSpPr>
      <p:grpSpPr>
        <a:xfrm>
          <a:off x="0" y="0"/>
          <a:ext cx="0" cy="0"/>
          <a:chOff x="0" y="0"/>
          <a:chExt cx="0" cy="0"/>
        </a:xfrm>
      </p:grpSpPr>
      <p:sp>
        <p:nvSpPr>
          <p:cNvPr id="4056" name="Google Shape;405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132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6" r:id="rId4"/>
    <p:sldLayoutId id="2147483657"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ipedia.org/wiki/Bernoulli_distribution"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71493" y="537672"/>
            <a:ext cx="6524978" cy="3940324"/>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MACHINE LEARNING </a:t>
            </a:r>
            <a:b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ALGORITHMS</a:t>
            </a:r>
            <a:b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b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28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Linear Classification using</a:t>
            </a:r>
            <a:br>
              <a:rPr lang="en-GB" sz="28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28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Logistic Regression and Feature Selection Method</a:t>
            </a:r>
            <a:b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br>
              <a:rPr lang="en-GB" sz="36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a:solidFill>
                  <a:schemeClr val="bg1"/>
                </a:solidFill>
                <a:latin typeface="Calibri" panose="020F0502020204030204" pitchFamily="34" charset="0"/>
                <a:ea typeface="Calibri" panose="020F0502020204030204" pitchFamily="34" charset="0"/>
                <a:cs typeface="Times New Roman" panose="02020603050405020304" pitchFamily="18" charset="0"/>
              </a:rPr>
              <a:t>ITMLA2-B44</a:t>
            </a:r>
            <a:endParaRPr sz="3600">
              <a:solidFill>
                <a:schemeClr val="bg1"/>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615717" y="131512"/>
            <a:ext cx="67611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3200" b="1">
                <a:effectLst/>
                <a:latin typeface="Times New Roman" panose="02020603050405020304" pitchFamily="18" charset="0"/>
                <a:ea typeface="Calibri" panose="020F0502020204030204" pitchFamily="34" charset="0"/>
                <a:cs typeface="Times New Roman" panose="02020603050405020304" pitchFamily="18" charset="0"/>
              </a:rPr>
              <a:t>Contents Covered</a:t>
            </a:r>
            <a:endParaRPr sz="3200"/>
          </a:p>
        </p:txBody>
      </p:sp>
      <p:sp>
        <p:nvSpPr>
          <p:cNvPr id="3843" name="Google Shape;3843;p14"/>
          <p:cNvSpPr txBox="1">
            <a:spLocks noGrp="1"/>
          </p:cNvSpPr>
          <p:nvPr>
            <p:ph type="body" idx="1"/>
          </p:nvPr>
        </p:nvSpPr>
        <p:spPr>
          <a:xfrm>
            <a:off x="91531" y="988912"/>
            <a:ext cx="7593539" cy="3731289"/>
          </a:xfrm>
          <a:prstGeom prst="rect">
            <a:avLst/>
          </a:prstGeom>
        </p:spPr>
        <p:txBody>
          <a:bodyPr spcFirstLastPara="1" wrap="square" lIns="91425" tIns="91425" rIns="91425" bIns="91425" anchor="t" anchorCtr="0">
            <a:noAutofit/>
          </a:bodyPr>
          <a:lstStyle/>
          <a:p>
            <a:pPr algn="just"/>
            <a:r>
              <a:rPr lang="en-US" sz="1600" b="0" i="0">
                <a:solidFill>
                  <a:srgbClr val="333333"/>
                </a:solidFill>
                <a:effectLst/>
                <a:latin typeface="Calibri" panose="020F0502020204030204" pitchFamily="34" charset="0"/>
                <a:cs typeface="Calibri" panose="020F0502020204030204" pitchFamily="34" charset="0"/>
              </a:rPr>
              <a:t>Discuss the logistic regression  algorithm</a:t>
            </a:r>
            <a:endParaRPr lang="en-US" sz="1600" b="0" i="0">
              <a:solidFill>
                <a:srgbClr val="526069"/>
              </a:solidFill>
              <a:effectLst/>
              <a:latin typeface="Calibri" panose="020F0502020204030204" pitchFamily="34" charset="0"/>
              <a:cs typeface="Calibri" panose="020F0502020204030204" pitchFamily="34" charset="0"/>
            </a:endParaRPr>
          </a:p>
          <a:p>
            <a:pPr algn="just"/>
            <a:r>
              <a:rPr lang="en-US" sz="1600" b="0" i="0">
                <a:solidFill>
                  <a:srgbClr val="333333"/>
                </a:solidFill>
                <a:effectLst/>
                <a:latin typeface="Calibri" panose="020F0502020204030204" pitchFamily="34" charset="0"/>
                <a:cs typeface="Calibri" panose="020F0502020204030204" pitchFamily="34" charset="0"/>
              </a:rPr>
              <a:t>Implement logistic regression  algorithms using stochastic gradient descent</a:t>
            </a:r>
            <a:endParaRPr lang="en-US" sz="1600" b="0" i="0">
              <a:solidFill>
                <a:srgbClr val="526069"/>
              </a:solidFill>
              <a:effectLst/>
              <a:latin typeface="Calibri" panose="020F0502020204030204" pitchFamily="34" charset="0"/>
              <a:cs typeface="Calibri" panose="020F0502020204030204" pitchFamily="34" charset="0"/>
            </a:endParaRPr>
          </a:p>
          <a:p>
            <a:pPr algn="just"/>
            <a:r>
              <a:rPr lang="en-US" sz="1600" b="0" i="0">
                <a:solidFill>
                  <a:srgbClr val="333333"/>
                </a:solidFill>
                <a:effectLst/>
                <a:latin typeface="Calibri" panose="020F0502020204030204" pitchFamily="34" charset="0"/>
                <a:cs typeface="Calibri" panose="020F0502020204030204" pitchFamily="34" charset="0"/>
              </a:rPr>
              <a:t>Understand the pertinence of feature  selection methods in machine learning</a:t>
            </a:r>
            <a:endParaRPr lang="en-US" sz="1600" b="0" i="0">
              <a:solidFill>
                <a:srgbClr val="526069"/>
              </a:solidFill>
              <a:effectLst/>
              <a:latin typeface="Calibri" panose="020F0502020204030204" pitchFamily="34" charset="0"/>
              <a:cs typeface="Calibri" panose="020F0502020204030204" pitchFamily="34" charset="0"/>
            </a:endParaRPr>
          </a:p>
          <a:p>
            <a:pPr algn="just"/>
            <a:r>
              <a:rPr lang="en-US" sz="1600" b="0" i="0">
                <a:solidFill>
                  <a:srgbClr val="333333"/>
                </a:solidFill>
                <a:effectLst/>
                <a:latin typeface="Calibri" panose="020F0502020204030204" pitchFamily="34" charset="0"/>
                <a:cs typeface="Calibri" panose="020F0502020204030204" pitchFamily="34" charset="0"/>
              </a:rPr>
              <a:t>Demonstrate proficiency in commonly used effective feature selection methods</a:t>
            </a:r>
            <a:endParaRPr lang="en-US" sz="1600" b="0" i="0">
              <a:solidFill>
                <a:srgbClr val="526069"/>
              </a:solidFill>
              <a:effectLst/>
              <a:latin typeface="Calibri" panose="020F0502020204030204" pitchFamily="34" charset="0"/>
              <a:cs typeface="Calibri" panose="020F0502020204030204" pitchFamily="34" charset="0"/>
            </a:endParaRPr>
          </a:p>
        </p:txBody>
      </p:sp>
      <p:sp>
        <p:nvSpPr>
          <p:cNvPr id="3845" name="Google Shape;3845;p1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485423" y="105394"/>
            <a:ext cx="6385396" cy="79860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a:latin typeface="Times New Roman" panose="02020603050405020304" pitchFamily="18" charset="0"/>
                <a:cs typeface="Times New Roman" panose="02020603050405020304" pitchFamily="18" charset="0"/>
              </a:rPr>
              <a:t>Logistic Regression</a:t>
            </a:r>
            <a:endParaRPr sz="2800" b="1">
              <a:latin typeface="Times New Roman" panose="02020603050405020304" pitchFamily="18" charset="0"/>
              <a:cs typeface="Times New Roman" panose="02020603050405020304" pitchFamily="18" charset="0"/>
            </a:endParaRPr>
          </a:p>
        </p:txBody>
      </p:sp>
      <p:sp>
        <p:nvSpPr>
          <p:cNvPr id="3851" name="Google Shape;3851;p15"/>
          <p:cNvSpPr txBox="1">
            <a:spLocks noGrp="1"/>
          </p:cNvSpPr>
          <p:nvPr>
            <p:ph type="subTitle" idx="4294967295"/>
          </p:nvPr>
        </p:nvSpPr>
        <p:spPr>
          <a:xfrm>
            <a:off x="91530" y="903999"/>
            <a:ext cx="7577813" cy="3945403"/>
          </a:xfrm>
          <a:prstGeom prst="rect">
            <a:avLst/>
          </a:prstGeom>
        </p:spPr>
        <p:txBody>
          <a:bodyPr spcFirstLastPara="1" wrap="square" lIns="91425" tIns="91425" rIns="91425" bIns="91425" anchor="t" anchorCtr="0">
            <a:noAutofit/>
          </a:bodyPr>
          <a:lstStyle/>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In the first week, it was explained that classification is the process of identifying to which class among a fixed number of classes a given input feature vector belong. Unlike, regression, classification is a supervised learning algorithm in which the output variable is categorical rather than continuous.</a:t>
            </a:r>
          </a:p>
          <a:p>
            <a:pPr marL="76200" indent="0" algn="just">
              <a:buNone/>
            </a:pPr>
            <a:endParaRPr lang="en-US" sz="1400" u="sng">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Classification in a nutshell aims to determine through proper parameter estimation, a probability density function that determines the likelihood of a feature set to belong to some class, in other terms, the conditional probability of an event to occur:</a:t>
            </a:r>
            <a:endParaRPr lang="en-US" sz="1400" b="1" u="sng">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pic>
        <p:nvPicPr>
          <p:cNvPr id="4" name="Picture 3">
            <a:extLst>
              <a:ext uri="{FF2B5EF4-FFF2-40B4-BE49-F238E27FC236}">
                <a16:creationId xmlns:a16="http://schemas.microsoft.com/office/drawing/2014/main" id="{77072412-B87B-0114-738C-0E4F4DFA7EE3}"/>
              </a:ext>
            </a:extLst>
          </p:cNvPr>
          <p:cNvPicPr>
            <a:picLocks noChangeAspect="1"/>
          </p:cNvPicPr>
          <p:nvPr/>
        </p:nvPicPr>
        <p:blipFill>
          <a:blip r:embed="rId3"/>
          <a:stretch>
            <a:fillRect/>
          </a:stretch>
        </p:blipFill>
        <p:spPr>
          <a:xfrm>
            <a:off x="2347796" y="2007399"/>
            <a:ext cx="3358321" cy="18806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4</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buNone/>
            </a:pPr>
            <a:endParaRPr lang="en-GB" sz="1600" b="1" u="sng">
              <a:latin typeface="Times New Roman" panose="02020603050405020304" pitchFamily="18" charset="0"/>
              <a:ea typeface="Calibri" panose="020F0502020204030204" pitchFamily="34" charset="0"/>
              <a:cs typeface="Times New Roman" panose="02020603050405020304" pitchFamily="18" charset="0"/>
            </a:endParaRPr>
          </a:p>
          <a:p>
            <a:pPr marL="76200" indent="0">
              <a:buNone/>
            </a:pPr>
            <a:endParaRPr lang="en-GB" sz="1600" b="1" u="sng">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400" b="0" i="0">
                <a:solidFill>
                  <a:srgbClr val="000000"/>
                </a:solidFill>
                <a:effectLst/>
                <a:latin typeface="Calibri" panose="020F0502020204030204" pitchFamily="34" charset="0"/>
                <a:cs typeface="Calibri" panose="020F0502020204030204" pitchFamily="34" charset="0"/>
              </a:rPr>
              <a:t>The class with the highest probability of belongingness will be the class in which the record belongs to. The most basic type of classification is binary classification, which discriminates between two classes rather than several classes. </a:t>
            </a:r>
          </a:p>
          <a:p>
            <a:pPr algn="just"/>
            <a:r>
              <a:rPr lang="en-US" sz="1400" b="0" i="0" err="1">
                <a:solidFill>
                  <a:srgbClr val="000000"/>
                </a:solidFill>
                <a:effectLst/>
                <a:latin typeface="Calibri" panose="020F0502020204030204" pitchFamily="34" charset="0"/>
                <a:cs typeface="Calibri" panose="020F0502020204030204" pitchFamily="34" charset="0"/>
              </a:rPr>
              <a:t>E.g</a:t>
            </a:r>
            <a:r>
              <a:rPr lang="en-US" sz="1400" b="0" i="0">
                <a:solidFill>
                  <a:srgbClr val="000000"/>
                </a:solidFill>
                <a:effectLst/>
                <a:latin typeface="Calibri" panose="020F0502020204030204" pitchFamily="34" charset="0"/>
                <a:cs typeface="Calibri" panose="020F0502020204030204" pitchFamily="34" charset="0"/>
              </a:rPr>
              <a:t> Identifying whether someone has malaria or not or whether a mail is a spam or not.  Moreover, in the classification family, nonlinear and linear classification algorithms can be distinguished based on the assumption made of the mapping function of the input feature vector.</a:t>
            </a: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Logistic regression is a binary classification that makes the assumption that the conditional probability distribution of the feature vector is function of a linear combination of the feature applied to a sigmoid function:</a:t>
            </a:r>
          </a:p>
          <a:p>
            <a:pPr marL="76200" indent="0">
              <a:buNone/>
            </a:pPr>
            <a:endParaRPr lang="en-GB" sz="1600" b="1" u="sng">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03C3B91-77D2-5D56-24A3-F28588F8E80F}"/>
              </a:ext>
            </a:extLst>
          </p:cNvPr>
          <p:cNvPicPr>
            <a:picLocks noChangeAspect="1"/>
          </p:cNvPicPr>
          <p:nvPr/>
        </p:nvPicPr>
        <p:blipFill>
          <a:blip r:embed="rId2"/>
          <a:stretch>
            <a:fillRect/>
          </a:stretch>
        </p:blipFill>
        <p:spPr>
          <a:xfrm>
            <a:off x="1027922" y="121444"/>
            <a:ext cx="5724640" cy="591363"/>
          </a:xfrm>
          <a:prstGeom prst="rect">
            <a:avLst/>
          </a:prstGeom>
        </p:spPr>
      </p:pic>
      <p:pic>
        <p:nvPicPr>
          <p:cNvPr id="8" name="Picture 7">
            <a:extLst>
              <a:ext uri="{FF2B5EF4-FFF2-40B4-BE49-F238E27FC236}">
                <a16:creationId xmlns:a16="http://schemas.microsoft.com/office/drawing/2014/main" id="{CFDE9516-47F1-6AAE-6D53-5564BA268EA6}"/>
              </a:ext>
            </a:extLst>
          </p:cNvPr>
          <p:cNvPicPr>
            <a:picLocks noChangeAspect="1"/>
          </p:cNvPicPr>
          <p:nvPr/>
        </p:nvPicPr>
        <p:blipFill>
          <a:blip r:embed="rId3"/>
          <a:stretch>
            <a:fillRect/>
          </a:stretch>
        </p:blipFill>
        <p:spPr>
          <a:xfrm>
            <a:off x="1100080" y="3720370"/>
            <a:ext cx="5724640" cy="999831"/>
          </a:xfrm>
          <a:prstGeom prst="rect">
            <a:avLst/>
          </a:prstGeom>
        </p:spPr>
      </p:pic>
    </p:spTree>
    <p:extLst>
      <p:ext uri="{BB962C8B-B14F-4D97-AF65-F5344CB8AC3E}">
        <p14:creationId xmlns:p14="http://schemas.microsoft.com/office/powerpoint/2010/main" val="2462363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5</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GB" sz="1400" b="1" u="sng">
              <a:latin typeface="Calibri" panose="020F0502020204030204" pitchFamily="34" charset="0"/>
              <a:cs typeface="Calibri" panose="020F0502020204030204" pitchFamily="34" charset="0"/>
            </a:endParaRPr>
          </a:p>
          <a:p>
            <a:pPr marL="76200" indent="0" algn="just">
              <a:buNone/>
            </a:pPr>
            <a:endParaRPr lang="en-GB" sz="1400" b="1" i="1" u="sng">
              <a:solidFill>
                <a:srgbClr val="292929"/>
              </a:solidFill>
              <a:effectLst/>
              <a:latin typeface="Calibri" panose="020F0502020204030204" pitchFamily="34" charset="0"/>
              <a:cs typeface="Calibri" panose="020F0502020204030204" pitchFamily="34" charset="0"/>
            </a:endParaRPr>
          </a:p>
          <a:p>
            <a:pPr marL="76200" indent="0" algn="just">
              <a:buNone/>
            </a:pPr>
            <a:r>
              <a:rPr lang="en-US" sz="1400" b="1" i="1">
                <a:solidFill>
                  <a:srgbClr val="292929"/>
                </a:solidFill>
                <a:effectLst/>
                <a:latin typeface="Calibri" panose="020F0502020204030204" pitchFamily="34" charset="0"/>
                <a:cs typeface="Calibri" panose="020F0502020204030204" pitchFamily="34" charset="0"/>
              </a:rPr>
              <a:t>Types of Logistic Regression</a:t>
            </a:r>
            <a:endParaRPr lang="en-US" sz="1400" b="0" i="0">
              <a:solidFill>
                <a:srgbClr val="292929"/>
              </a:solidFill>
              <a:effectLst/>
              <a:latin typeface="Calibri" panose="020F0502020204030204" pitchFamily="34" charset="0"/>
              <a:cs typeface="Calibri" panose="020F0502020204030204" pitchFamily="34" charset="0"/>
            </a:endParaRPr>
          </a:p>
          <a:p>
            <a:pPr marL="419100" indent="-342900" algn="just">
              <a:buFont typeface="+mj-lt"/>
              <a:buAutoNum type="arabicPeriod"/>
            </a:pPr>
            <a:r>
              <a:rPr lang="en-US" sz="1400" b="0" i="0">
                <a:solidFill>
                  <a:srgbClr val="292929"/>
                </a:solidFill>
                <a:effectLst/>
                <a:latin typeface="Calibri" panose="020F0502020204030204" pitchFamily="34" charset="0"/>
                <a:cs typeface="Calibri" panose="020F0502020204030204" pitchFamily="34" charset="0"/>
              </a:rPr>
              <a:t>Binary Logistic Regression</a:t>
            </a:r>
          </a:p>
          <a:p>
            <a:pPr marL="76200" indent="0" algn="just">
              <a:buNone/>
            </a:pPr>
            <a:r>
              <a:rPr lang="en-US" sz="1400" b="0" i="0">
                <a:solidFill>
                  <a:srgbClr val="292929"/>
                </a:solidFill>
                <a:effectLst/>
                <a:latin typeface="Calibri" panose="020F0502020204030204" pitchFamily="34" charset="0"/>
                <a:cs typeface="Calibri" panose="020F0502020204030204" pitchFamily="34" charset="0"/>
              </a:rPr>
              <a:t>	The categorical response has only two 2 possible outcomes. Example: Spam or Not</a:t>
            </a:r>
          </a:p>
          <a:p>
            <a:pPr marL="419100" indent="-342900" algn="just">
              <a:buAutoNum type="arabicPeriod" startAt="2"/>
            </a:pPr>
            <a:r>
              <a:rPr lang="en-US" sz="1400" b="0" i="0">
                <a:solidFill>
                  <a:srgbClr val="292929"/>
                </a:solidFill>
                <a:effectLst/>
                <a:latin typeface="Calibri" panose="020F0502020204030204" pitchFamily="34" charset="0"/>
                <a:cs typeface="Calibri" panose="020F0502020204030204" pitchFamily="34" charset="0"/>
              </a:rPr>
              <a:t>Multinomial Logistic Regression</a:t>
            </a:r>
          </a:p>
          <a:p>
            <a:pPr marL="76200" indent="0" algn="just">
              <a:buNone/>
            </a:pPr>
            <a:r>
              <a:rPr lang="en-US" sz="1400">
                <a:solidFill>
                  <a:srgbClr val="292929"/>
                </a:solidFill>
                <a:latin typeface="Calibri" panose="020F0502020204030204" pitchFamily="34" charset="0"/>
                <a:cs typeface="Calibri" panose="020F0502020204030204" pitchFamily="34" charset="0"/>
              </a:rPr>
              <a:t>	</a:t>
            </a:r>
            <a:r>
              <a:rPr lang="en-US" sz="1400" b="0" i="0">
                <a:solidFill>
                  <a:srgbClr val="292929"/>
                </a:solidFill>
                <a:effectLst/>
                <a:latin typeface="Calibri" panose="020F0502020204030204" pitchFamily="34" charset="0"/>
                <a:cs typeface="Calibri" panose="020F0502020204030204" pitchFamily="34" charset="0"/>
              </a:rPr>
              <a:t>Three or more categories without ordering. Example: Predicting which food is preferred 	more (Veg, Non-Veg, Vegan)</a:t>
            </a:r>
          </a:p>
          <a:p>
            <a:pPr marL="419100" indent="-342900" algn="just">
              <a:buAutoNum type="arabicPeriod" startAt="3"/>
            </a:pPr>
            <a:r>
              <a:rPr lang="en-US" sz="1400" b="0" i="0">
                <a:solidFill>
                  <a:srgbClr val="292929"/>
                </a:solidFill>
                <a:effectLst/>
                <a:latin typeface="Calibri" panose="020F0502020204030204" pitchFamily="34" charset="0"/>
                <a:cs typeface="Calibri" panose="020F0502020204030204" pitchFamily="34" charset="0"/>
              </a:rPr>
              <a:t>Ordinal Logistic Regression</a:t>
            </a:r>
          </a:p>
          <a:p>
            <a:pPr marL="76200" indent="0" algn="just">
              <a:buNone/>
            </a:pPr>
            <a:r>
              <a:rPr lang="en-US" sz="1400">
                <a:solidFill>
                  <a:srgbClr val="292929"/>
                </a:solidFill>
                <a:latin typeface="Calibri" panose="020F0502020204030204" pitchFamily="34" charset="0"/>
                <a:cs typeface="Calibri" panose="020F0502020204030204" pitchFamily="34" charset="0"/>
              </a:rPr>
              <a:t>	</a:t>
            </a:r>
            <a:r>
              <a:rPr lang="en-US" sz="1400" b="0" i="0">
                <a:solidFill>
                  <a:srgbClr val="292929"/>
                </a:solidFill>
                <a:effectLst/>
                <a:latin typeface="Calibri" panose="020F0502020204030204" pitchFamily="34" charset="0"/>
                <a:cs typeface="Calibri" panose="020F0502020204030204" pitchFamily="34" charset="0"/>
              </a:rPr>
              <a:t>Three or more categories with ordering. Example: Movie rating from 1 to 5</a:t>
            </a: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F2874C38-2B77-5ADC-A037-F493EEC35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8550" y="121444"/>
            <a:ext cx="3463384" cy="1731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629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6</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Logistic Regression is much similar to Linear Regression except that how they are used. Linear Regression is used for solving Regression problems, whereas </a:t>
            </a:r>
            <a:r>
              <a:rPr lang="en-US" sz="1400" b="1" i="0">
                <a:solidFill>
                  <a:srgbClr val="000000"/>
                </a:solidFill>
                <a:effectLst/>
                <a:latin typeface="Calibri" panose="020F0502020204030204" pitchFamily="34" charset="0"/>
                <a:cs typeface="Calibri" panose="020F0502020204030204" pitchFamily="34" charset="0"/>
              </a:rPr>
              <a:t>Logistic regression is used for solving the classification problems</a:t>
            </a:r>
            <a:r>
              <a:rPr lang="en-US" sz="1400" b="0" i="0">
                <a:solidFill>
                  <a:srgbClr val="000000"/>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In Logistic regression, instead of fitting a regression line, we fit an "S" shaped logistic function, which predicts two maximum values (0 or 1).</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The curve from the logistic function indicates the likelihood of something such as whether the cells are cancerous or not, whether a mouse is obese or not based on its weight, etc.</a:t>
            </a:r>
          </a:p>
          <a:p>
            <a:pPr algn="just">
              <a:buFont typeface="Wingdings" panose="05000000000000000000" pitchFamily="2" charset="2"/>
              <a:buChar char="Ø"/>
            </a:pPr>
            <a:endParaRPr lang="en-GB" sz="1400" b="1" u="sng">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Logistic Regression in Machine Learning">
            <a:extLst>
              <a:ext uri="{FF2B5EF4-FFF2-40B4-BE49-F238E27FC236}">
                <a16:creationId xmlns:a16="http://schemas.microsoft.com/office/drawing/2014/main" id="{21C79C47-1F00-112A-4945-991AE5704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9822" y="2247698"/>
            <a:ext cx="4120839" cy="2472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576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7</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Wingdings" panose="05000000000000000000" pitchFamily="2" charset="2"/>
              <a:buChar char="Ø"/>
            </a:pPr>
            <a:r>
              <a:rPr lang="en-US" sz="1400" b="0" i="0">
                <a:solidFill>
                  <a:srgbClr val="303245"/>
                </a:solidFill>
                <a:effectLst/>
                <a:latin typeface="Calibri" panose="020F0502020204030204" pitchFamily="34" charset="0"/>
                <a:cs typeface="Calibri" panose="020F0502020204030204" pitchFamily="34" charset="0"/>
              </a:rPr>
              <a:t>A probability is returned using logistic regression. You may utilize the returned chance “as is”  or convert it to a number that is binary. </a:t>
            </a:r>
          </a:p>
          <a:p>
            <a:pPr algn="just">
              <a:buFont typeface="Wingdings" panose="05000000000000000000" pitchFamily="2" charset="2"/>
              <a:buChar char="Ø"/>
            </a:pPr>
            <a:r>
              <a:rPr lang="en-US" sz="1400" b="0" i="0">
                <a:solidFill>
                  <a:srgbClr val="303245"/>
                </a:solidFill>
                <a:effectLst/>
                <a:latin typeface="Calibri" panose="020F0502020204030204" pitchFamily="34" charset="0"/>
                <a:cs typeface="Calibri" panose="020F0502020204030204" pitchFamily="34" charset="0"/>
              </a:rPr>
              <a:t>A logistic regression machine learning model with a result of 0.9898 predicts that an email is extremely likely to be spam. Another message (email) with a score of 0.0002 on the same regression ML model, on the other hand, is almost certainly not spam. But how about an email with a 0.6843 prediction score?</a:t>
            </a:r>
            <a:r>
              <a:rPr lang="en-US" sz="1400" b="1" i="0" u="none" strike="noStrike">
                <a:solidFill>
                  <a:srgbClr val="303245"/>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1400" b="1" i="0" u="none" strike="noStrike">
                <a:solidFill>
                  <a:srgbClr val="303245"/>
                </a:solidFill>
                <a:effectLst/>
                <a:latin typeface="Calibri" panose="020F0502020204030204" pitchFamily="34" charset="0"/>
                <a:cs typeface="Calibri" panose="020F0502020204030204" pitchFamily="34" charset="0"/>
              </a:rPr>
              <a:t>A classification threshold value must be defined if you want to transfer a logistic regression value to a binary category</a:t>
            </a:r>
            <a:r>
              <a:rPr lang="en-US" sz="1400" b="0" i="0">
                <a:solidFill>
                  <a:srgbClr val="303245"/>
                </a:solidFill>
                <a:effectLst/>
                <a:latin typeface="Calibri" panose="020F0502020204030204" pitchFamily="34" charset="0"/>
                <a:cs typeface="Calibri" panose="020F0502020204030204" pitchFamily="34" charset="0"/>
              </a:rPr>
              <a:t>. A value greater than that denotes “spam,” whereas a value less than that suggests “not spam.” It’s easy to assume that the classification threshold is always going to be 0.5… however, </a:t>
            </a:r>
            <a:r>
              <a:rPr lang="en-US" sz="1400" b="1" i="0" u="none" strike="noStrike">
                <a:solidFill>
                  <a:srgbClr val="303245"/>
                </a:solidFill>
                <a:effectLst/>
                <a:latin typeface="Calibri" panose="020F0502020204030204" pitchFamily="34" charset="0"/>
                <a:cs typeface="Calibri" panose="020F0502020204030204" pitchFamily="34" charset="0"/>
              </a:rPr>
              <a:t>machine learning thresholds are problem-specific and must be fine-tuned</a:t>
            </a:r>
            <a:r>
              <a:rPr lang="en-US" sz="1400" b="0" i="0">
                <a:solidFill>
                  <a:srgbClr val="303245"/>
                </a:solidFill>
                <a:effectLst/>
                <a:latin typeface="Calibri" panose="020F0502020204030204" pitchFamily="34" charset="0"/>
                <a:cs typeface="Calibri" panose="020F0502020204030204" pitchFamily="34" charset="0"/>
              </a:rPr>
              <a:t>.</a:t>
            </a:r>
            <a:endParaRPr lang="en-US" sz="1400" u="sng">
              <a:solidFill>
                <a:srgbClr val="303245"/>
              </a:solidFill>
              <a:latin typeface="Calibri" panose="020F0502020204030204" pitchFamily="34" charset="0"/>
              <a:ea typeface="Calibri" panose="020F0502020204030204" pitchFamily="34" charset="0"/>
              <a:cs typeface="Calibri" panose="020F0502020204030204" pitchFamily="34" charset="0"/>
            </a:endParaRPr>
          </a:p>
          <a:p>
            <a:pPr marL="76200" indent="0" algn="ctr">
              <a:buNone/>
            </a:pPr>
            <a:r>
              <a:rPr lang="en-US" sz="1600" b="1" i="0" u="sng">
                <a:solidFill>
                  <a:schemeClr val="accent6"/>
                </a:solidFill>
                <a:effectLst/>
                <a:latin typeface="Times New Roman" panose="02020603050405020304" pitchFamily="18" charset="0"/>
                <a:cs typeface="Times New Roman" panose="02020603050405020304" pitchFamily="18" charset="0"/>
              </a:rPr>
              <a:t>LOGISTIC FUNCTION (SIGMOID FUNCTION):</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The sigmoid function is a mathematical function used to map the predicted values to probabilities.</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It maps any real value into another value within a range of 0 and 1.</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The value of the logistic regression must be between 0 and 1, which cannot go beyond this limit, so it forms a curve like the "S" form. The S-form curve is called the Sigmoid function or the logistic function.</a:t>
            </a:r>
          </a:p>
          <a:p>
            <a:pPr marL="76200" indent="0" algn="just">
              <a:buNone/>
            </a:pPr>
            <a:endParaRPr lang="en-US" sz="1100" b="0" i="0">
              <a:solidFill>
                <a:srgbClr val="000000"/>
              </a:solidFill>
              <a:effectLst/>
              <a:latin typeface="inter-regular"/>
            </a:endParaRP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4836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8</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In logistic regression, we use the concept of the threshold value, which defines the probability of either 0 or 1. Such as values above the threshold value tend to 1, and a value below the threshold value tends to be 0.</a:t>
            </a:r>
          </a:p>
          <a:p>
            <a:pPr algn="just">
              <a:buFont typeface="Wingdings" panose="05000000000000000000" pitchFamily="2" charset="2"/>
              <a:buChar char="Ø"/>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ctr">
              <a:buNone/>
            </a:pPr>
            <a:r>
              <a:rPr lang="en-US" sz="1600" b="1" i="0" u="sng">
                <a:solidFill>
                  <a:schemeClr val="accent6"/>
                </a:solidFill>
                <a:effectLst/>
                <a:latin typeface="Times New Roman" panose="02020603050405020304" pitchFamily="18" charset="0"/>
                <a:cs typeface="Times New Roman" panose="02020603050405020304" pitchFamily="18" charset="0"/>
              </a:rPr>
              <a:t>ASSUMPTIONS FOR LOGISTIC REGRESSION:</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The dependent variable must be categorical in nature.</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The independent variable should not have multi-collinearity (</a:t>
            </a:r>
            <a:r>
              <a:rPr lang="en-US" sz="1400">
                <a:solidFill>
                  <a:srgbClr val="C00000"/>
                </a:solidFill>
                <a:latin typeface="Calibri" panose="020F0502020204030204" pitchFamily="34" charset="0"/>
                <a:cs typeface="Calibri" panose="020F0502020204030204" pitchFamily="34" charset="0"/>
              </a:rPr>
              <a:t>when there are high correlations between two or more predictor variables</a:t>
            </a:r>
            <a:r>
              <a:rPr lang="en-US" sz="1100"/>
              <a:t>)</a:t>
            </a:r>
            <a:r>
              <a:rPr lang="en-US" sz="1400" b="0" i="0">
                <a:solidFill>
                  <a:srgbClr val="000000"/>
                </a:solidFill>
                <a:effectLst/>
                <a:latin typeface="Calibri" panose="020F0502020204030204" pitchFamily="34" charset="0"/>
                <a:cs typeface="Calibri" panose="020F0502020204030204" pitchFamily="34" charset="0"/>
              </a:rPr>
              <a:t>.</a:t>
            </a: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endParaRPr lang="en-GB" sz="1400" b="1" u="sng">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146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9</a:t>
            </a:fld>
            <a:endParaRPr lang="en"/>
          </a:p>
        </p:txBody>
      </p:sp>
      <p:sp>
        <p:nvSpPr>
          <p:cNvPr id="3" name="Google Shape;3851;p15"/>
          <p:cNvSpPr txBox="1">
            <a:spLocks/>
          </p:cNvSpPr>
          <p:nvPr/>
        </p:nvSpPr>
        <p:spPr>
          <a:xfrm>
            <a:off x="91531" y="99142"/>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Unlike, linear regression, logistic regression is not trained using the sum square errors. The algorithm is trained by finding the parameters that </a:t>
            </a:r>
            <a:r>
              <a:rPr lang="en-US" sz="1400" b="0" i="0" err="1">
                <a:solidFill>
                  <a:srgbClr val="000000"/>
                </a:solidFill>
                <a:effectLst/>
                <a:latin typeface="Calibri" panose="020F0502020204030204" pitchFamily="34" charset="0"/>
                <a:cs typeface="Calibri" panose="020F0502020204030204" pitchFamily="34" charset="0"/>
              </a:rPr>
              <a:t>maximise</a:t>
            </a:r>
            <a:r>
              <a:rPr lang="en-US" sz="1400" b="0" i="0">
                <a:solidFill>
                  <a:srgbClr val="000000"/>
                </a:solidFill>
                <a:effectLst/>
                <a:latin typeface="Calibri" panose="020F0502020204030204" pitchFamily="34" charset="0"/>
                <a:cs typeface="Calibri" panose="020F0502020204030204" pitchFamily="34" charset="0"/>
              </a:rPr>
              <a:t> the probability for all data.  This algorithm is called the </a:t>
            </a:r>
            <a:r>
              <a:rPr lang="en-US" sz="1400" b="1" i="0">
                <a:solidFill>
                  <a:srgbClr val="000000"/>
                </a:solidFill>
                <a:effectLst/>
                <a:latin typeface="Calibri" panose="020F0502020204030204" pitchFamily="34" charset="0"/>
                <a:cs typeface="Calibri" panose="020F0502020204030204" pitchFamily="34" charset="0"/>
              </a:rPr>
              <a:t>Maximum Likelihood</a:t>
            </a:r>
            <a:r>
              <a:rPr lang="en-US" sz="1400" b="0" i="0">
                <a:solidFill>
                  <a:srgbClr val="000000"/>
                </a:solidFill>
                <a:effectLst/>
                <a:latin typeface="Calibri" panose="020F0502020204030204" pitchFamily="34" charset="0"/>
                <a:cs typeface="Calibri" panose="020F0502020204030204" pitchFamily="34" charset="0"/>
              </a:rPr>
              <a:t> </a:t>
            </a:r>
            <a:r>
              <a:rPr lang="en-US" sz="1400" b="1" i="0">
                <a:solidFill>
                  <a:srgbClr val="000000"/>
                </a:solidFill>
                <a:effectLst/>
                <a:latin typeface="Calibri" panose="020F0502020204030204" pitchFamily="34" charset="0"/>
                <a:cs typeface="Calibri" panose="020F0502020204030204" pitchFamily="34" charset="0"/>
              </a:rPr>
              <a:t>Estimation (MLE)</a:t>
            </a:r>
            <a:r>
              <a:rPr lang="en-US" sz="1400" b="0" i="0">
                <a:solidFill>
                  <a:srgbClr val="000000"/>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1400" b="0" i="0">
                <a:solidFill>
                  <a:srgbClr val="000000"/>
                </a:solidFill>
                <a:effectLst/>
                <a:latin typeface="Calibri" panose="020F0502020204030204" pitchFamily="34" charset="0"/>
                <a:cs typeface="Calibri" panose="020F0502020204030204" pitchFamily="34" charset="0"/>
              </a:rPr>
              <a:t>Being a binary classifier, with two outcomes, the output of logistic regression can be modelled as a Bernoulli random variable, and thus the probability mass function of the Bernoulli distribution can be used:</a:t>
            </a:r>
          </a:p>
          <a:p>
            <a:pPr algn="just">
              <a:buFont typeface="Wingdings" panose="05000000000000000000" pitchFamily="2" charset="2"/>
              <a:buChar char="Ø"/>
            </a:pPr>
            <a:endParaRPr lang="en-US" sz="1400">
              <a:solidFill>
                <a:srgbClr val="000000"/>
              </a:solidFill>
              <a:latin typeface="Calibri" panose="020F0502020204030204" pitchFamily="34" charset="0"/>
              <a:cs typeface="Calibri" panose="020F0502020204030204" pitchFamily="34" charset="0"/>
            </a:endParaRPr>
          </a:p>
          <a:p>
            <a:pPr algn="just">
              <a:buFont typeface="Wingdings" panose="05000000000000000000" pitchFamily="2" charset="2"/>
              <a:buChar char="Ø"/>
            </a:pPr>
            <a:endParaRPr lang="en-US" sz="1400" b="0" i="0">
              <a:solidFill>
                <a:srgbClr val="000000"/>
              </a:solidFill>
              <a:effectLst/>
              <a:latin typeface="Calibri" panose="020F0502020204030204" pitchFamily="34" charset="0"/>
              <a:cs typeface="Calibri" panose="020F0502020204030204" pitchFamily="34" charset="0"/>
            </a:endParaRPr>
          </a:p>
          <a:p>
            <a:pPr algn="just">
              <a:buFont typeface="Wingdings" panose="05000000000000000000" pitchFamily="2" charset="2"/>
              <a:buChar char="Ø"/>
            </a:pPr>
            <a:endParaRPr lang="en-US" sz="1400">
              <a:solidFill>
                <a:srgbClr val="000000"/>
              </a:solidFill>
              <a:latin typeface="Calibri" panose="020F0502020204030204" pitchFamily="34" charset="0"/>
              <a:cs typeface="Calibri" panose="020F0502020204030204" pitchFamily="34" charset="0"/>
            </a:endParaRPr>
          </a:p>
          <a:p>
            <a:pPr algn="just" fontAlgn="base"/>
            <a:r>
              <a:rPr lang="en-US" sz="1400" b="0">
                <a:solidFill>
                  <a:srgbClr val="555555"/>
                </a:solidFill>
                <a:effectLst/>
                <a:latin typeface="Calibri" panose="020F0502020204030204" pitchFamily="34" charset="0"/>
                <a:cs typeface="Calibri" panose="020F0502020204030204" pitchFamily="34" charset="0"/>
              </a:rPr>
              <a:t>The </a:t>
            </a:r>
            <a:r>
              <a:rPr lang="en-US" sz="1400" b="0" u="none" strike="noStrike">
                <a:solidFill>
                  <a:srgbClr val="428BCA"/>
                </a:solidFill>
                <a:effectLst/>
                <a:latin typeface="Calibri" panose="020F0502020204030204" pitchFamily="34" charset="0"/>
                <a:cs typeface="Calibri" panose="020F0502020204030204" pitchFamily="34" charset="0"/>
                <a:hlinkClick r:id="rId2"/>
              </a:rPr>
              <a:t>Bernoulli distribution</a:t>
            </a:r>
            <a:r>
              <a:rPr lang="en-US" sz="1400" b="0">
                <a:solidFill>
                  <a:srgbClr val="555555"/>
                </a:solidFill>
                <a:effectLst/>
                <a:latin typeface="Calibri" panose="020F0502020204030204" pitchFamily="34" charset="0"/>
                <a:cs typeface="Calibri" panose="020F0502020204030204" pitchFamily="34" charset="0"/>
              </a:rPr>
              <a:t> is a discrete probability distribution that covers a case where an event will have a binary outcome as either a 0 or 1.</a:t>
            </a:r>
          </a:p>
          <a:p>
            <a:pPr marL="76200" indent="0" algn="just" fontAlgn="base">
              <a:buNone/>
            </a:pPr>
            <a:r>
              <a:rPr lang="en-US" sz="1400" b="0" i="0">
                <a:solidFill>
                  <a:srgbClr val="555555"/>
                </a:solidFill>
                <a:effectLst/>
                <a:latin typeface="Calibri" panose="020F0502020204030204" pitchFamily="34" charset="0"/>
                <a:cs typeface="Calibri" panose="020F0502020204030204" pitchFamily="34" charset="0"/>
              </a:rPr>
              <a:t>				</a:t>
            </a:r>
            <a:r>
              <a:rPr lang="en-US" sz="1400" b="1" i="0">
                <a:solidFill>
                  <a:srgbClr val="555555"/>
                </a:solidFill>
                <a:effectLst/>
                <a:latin typeface="Calibri" panose="020F0502020204030204" pitchFamily="34" charset="0"/>
                <a:cs typeface="Calibri" panose="020F0502020204030204" pitchFamily="34" charset="0"/>
              </a:rPr>
              <a:t>x in {0, 1}</a:t>
            </a: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algn="l"/>
            <a:endParaRPr lang="en-US" sz="1100">
              <a:solidFill>
                <a:srgbClr val="000000"/>
              </a:solidFill>
              <a:latin typeface="Arimo"/>
            </a:endParaRPr>
          </a:p>
          <a:p>
            <a:pPr marL="76200" indent="0" algn="l">
              <a:buNone/>
            </a:pPr>
            <a:endParaRPr lang="en-US" sz="1100" b="0" i="0">
              <a:solidFill>
                <a:srgbClr val="000000"/>
              </a:solidFill>
              <a:effectLst/>
              <a:latin typeface="Arimo"/>
            </a:endParaRPr>
          </a:p>
          <a:p>
            <a:pPr marL="76200" indent="0" algn="just">
              <a:buNone/>
            </a:pPr>
            <a:r>
              <a:rPr kumimoji="0" lang="en-US" altLang="en-US" sz="1600" b="0" i="0" u="none" strike="noStrike" cap="none" normalizeH="0" baseline="0">
                <a:ln>
                  <a:noFill/>
                </a:ln>
                <a:solidFill>
                  <a:schemeClr val="tx1"/>
                </a:solidFill>
                <a:effectLst/>
                <a:latin typeface="Arial" panose="020B0604020202020204" pitchFamily="34" charset="0"/>
              </a:rPr>
              <a:t>     </a:t>
            </a:r>
            <a:r>
              <a:rPr kumimoji="0" lang="en-US" altLang="en-US" sz="1400" b="0" i="0" u="none" strike="noStrike" cap="none" normalizeH="0" baseline="0">
                <a:ln>
                  <a:noFill/>
                </a:ln>
                <a:solidFill>
                  <a:schemeClr val="tx1"/>
                </a:solidFill>
                <a:effectLst/>
                <a:latin typeface="Arial" panose="020B0604020202020204" pitchFamily="34" charset="0"/>
              </a:rPr>
              <a:t> </a:t>
            </a:r>
          </a:p>
          <a:p>
            <a:pPr marL="76200" indent="0">
              <a:buNone/>
            </a:pPr>
            <a:br>
              <a:rPr lang="en-US" sz="1100"/>
            </a:br>
            <a:endParaRPr lang="en-GB" sz="1400">
              <a:latin typeface="Calibri" panose="020F0502020204030204" pitchFamily="34" charset="0"/>
              <a:ea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F2DD07AD-FFD0-CD8E-FA2A-9954A48459E0}"/>
              </a:ext>
            </a:extLst>
          </p:cNvPr>
          <p:cNvPicPr>
            <a:picLocks noChangeAspect="1"/>
          </p:cNvPicPr>
          <p:nvPr/>
        </p:nvPicPr>
        <p:blipFill>
          <a:blip r:embed="rId3"/>
          <a:stretch>
            <a:fillRect/>
          </a:stretch>
        </p:blipFill>
        <p:spPr>
          <a:xfrm>
            <a:off x="1283976" y="1861030"/>
            <a:ext cx="5212532" cy="438950"/>
          </a:xfrm>
          <a:prstGeom prst="rect">
            <a:avLst/>
          </a:prstGeom>
        </p:spPr>
      </p:pic>
    </p:spTree>
    <p:extLst>
      <p:ext uri="{BB962C8B-B14F-4D97-AF65-F5344CB8AC3E}">
        <p14:creationId xmlns:p14="http://schemas.microsoft.com/office/powerpoint/2010/main" val="2447724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10</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r>
              <a:rPr lang="en-US" sz="1400" b="0" i="0">
                <a:solidFill>
                  <a:srgbClr val="000000"/>
                </a:solidFill>
                <a:effectLst/>
                <a:latin typeface="Calibri" panose="020F0502020204030204" pitchFamily="34" charset="0"/>
                <a:cs typeface="Calibri" panose="020F0502020204030204" pitchFamily="34" charset="0"/>
              </a:rPr>
              <a:t>Using the probability mass function of a single data point, the conditional likelihood of all the data can be constructed where each  </a:t>
            </a:r>
            <a:r>
              <a:rPr kumimoji="0" lang="en-US" altLang="en-US" sz="1400" b="0" i="0" u="none" strike="noStrike" cap="none" normalizeH="0" baseline="0">
                <a:ln>
                  <a:noFill/>
                </a:ln>
                <a:solidFill>
                  <a:srgbClr val="000000"/>
                </a:solidFill>
                <a:effectLst/>
                <a:latin typeface="Calibri" panose="020F0502020204030204" pitchFamily="34" charset="0"/>
                <a:cs typeface="Calibri" panose="020F0502020204030204" pitchFamily="34" charset="0"/>
              </a:rPr>
              <a:t>a data point is independent:</a:t>
            </a:r>
          </a:p>
          <a:p>
            <a:pPr algn="just"/>
            <a:endParaRPr lang="en-US" altLang="en-US" sz="1400">
              <a:solidFill>
                <a:srgbClr val="000000"/>
              </a:solidFill>
              <a:latin typeface="Calibri" panose="020F0502020204030204" pitchFamily="34" charset="0"/>
              <a:cs typeface="Calibri" panose="020F0502020204030204" pitchFamily="34" charset="0"/>
            </a:endParaRPr>
          </a:p>
          <a:p>
            <a:pPr algn="just"/>
            <a:endParaRPr kumimoji="0" lang="en-US" altLang="en-US" sz="1400" b="0" i="0" u="none" strike="noStrike" cap="none" normalizeH="0" baseline="0">
              <a:ln>
                <a:noFill/>
              </a:ln>
              <a:solidFill>
                <a:srgbClr val="000000"/>
              </a:solidFill>
              <a:effectLst/>
              <a:latin typeface="Calibri" panose="020F0502020204030204" pitchFamily="34" charset="0"/>
              <a:cs typeface="Calibri" panose="020F0502020204030204" pitchFamily="34" charset="0"/>
            </a:endParaRPr>
          </a:p>
          <a:p>
            <a:pPr algn="just"/>
            <a:endParaRPr lang="en-US" altLang="en-US" sz="1400">
              <a:solidFill>
                <a:srgbClr val="000000"/>
              </a:solidFill>
              <a:latin typeface="Calibri" panose="020F0502020204030204" pitchFamily="34" charset="0"/>
              <a:cs typeface="Calibri" panose="020F0502020204030204" pitchFamily="34" charset="0"/>
            </a:endParaRPr>
          </a:p>
          <a:p>
            <a:pPr algn="just"/>
            <a:r>
              <a:rPr lang="en-US" sz="1400" b="0" i="0">
                <a:solidFill>
                  <a:srgbClr val="000000"/>
                </a:solidFill>
                <a:effectLst/>
                <a:latin typeface="Calibri" panose="020F0502020204030204" pitchFamily="34" charset="0"/>
                <a:cs typeface="Calibri" panose="020F0502020204030204" pitchFamily="34" charset="0"/>
              </a:rPr>
              <a:t>For the purpose of computation, this probability is converted into an equivalent logarithmic form, yielding</a:t>
            </a:r>
          </a:p>
          <a:p>
            <a:pPr algn="just"/>
            <a:endParaRPr lang="en-US" sz="1400">
              <a:solidFill>
                <a:srgbClr val="000000"/>
              </a:solidFill>
              <a:latin typeface="Calibri" panose="020F0502020204030204" pitchFamily="34" charset="0"/>
              <a:cs typeface="Calibri" panose="020F0502020204030204" pitchFamily="34" charset="0"/>
            </a:endParaRPr>
          </a:p>
          <a:p>
            <a:pPr algn="just"/>
            <a:endParaRPr lang="en-US" sz="1400" b="0" i="0">
              <a:solidFill>
                <a:srgbClr val="000000"/>
              </a:solidFill>
              <a:effectLst/>
              <a:latin typeface="Calibri" panose="020F0502020204030204" pitchFamily="34" charset="0"/>
              <a:cs typeface="Calibri" panose="020F0502020204030204" pitchFamily="34" charset="0"/>
            </a:endParaRPr>
          </a:p>
          <a:p>
            <a:pPr algn="just"/>
            <a:endParaRPr lang="en-US" sz="1400">
              <a:solidFill>
                <a:srgbClr val="000000"/>
              </a:solidFill>
              <a:latin typeface="Calibri" panose="020F0502020204030204" pitchFamily="34" charset="0"/>
              <a:cs typeface="Calibri" panose="020F0502020204030204" pitchFamily="34" charset="0"/>
            </a:endParaRPr>
          </a:p>
          <a:p>
            <a:pPr algn="just"/>
            <a:r>
              <a:rPr lang="en-US" sz="1400" b="0" i="0">
                <a:solidFill>
                  <a:srgbClr val="000000"/>
                </a:solidFill>
                <a:effectLst/>
                <a:latin typeface="Calibri" panose="020F0502020204030204" pitchFamily="34" charset="0"/>
                <a:cs typeface="Calibri" panose="020F0502020204030204" pitchFamily="34" charset="0"/>
              </a:rPr>
              <a:t>which will thus be </a:t>
            </a:r>
            <a:r>
              <a:rPr lang="en-US" sz="1400" b="0" i="0" err="1">
                <a:solidFill>
                  <a:srgbClr val="000000"/>
                </a:solidFill>
                <a:effectLst/>
                <a:latin typeface="Calibri" panose="020F0502020204030204" pitchFamily="34" charset="0"/>
                <a:cs typeface="Calibri" panose="020F0502020204030204" pitchFamily="34" charset="0"/>
              </a:rPr>
              <a:t>maximised</a:t>
            </a:r>
            <a:r>
              <a:rPr lang="en-US" sz="1400" b="0" i="0">
                <a:solidFill>
                  <a:srgbClr val="000000"/>
                </a:solidFill>
                <a:effectLst/>
                <a:latin typeface="Calibri" panose="020F0502020204030204" pitchFamily="34" charset="0"/>
                <a:cs typeface="Calibri" panose="020F0502020204030204" pitchFamily="34" charset="0"/>
              </a:rPr>
              <a:t> to find the </a:t>
            </a:r>
            <a:r>
              <a:rPr lang="en-US" sz="1400" b="0" i="0" err="1">
                <a:solidFill>
                  <a:srgbClr val="000000"/>
                </a:solidFill>
                <a:effectLst/>
                <a:latin typeface="Calibri" panose="020F0502020204030204" pitchFamily="34" charset="0"/>
                <a:cs typeface="Calibri" panose="020F0502020204030204" pitchFamily="34" charset="0"/>
              </a:rPr>
              <a:t>optimisation</a:t>
            </a:r>
            <a:r>
              <a:rPr lang="en-US" sz="1400" b="0" i="0">
                <a:solidFill>
                  <a:srgbClr val="000000"/>
                </a:solidFill>
                <a:effectLst/>
                <a:latin typeface="Calibri" panose="020F0502020204030204" pitchFamily="34" charset="0"/>
                <a:cs typeface="Calibri" panose="020F0502020204030204" pitchFamily="34" charset="0"/>
              </a:rPr>
              <a:t> parameter. In the </a:t>
            </a:r>
            <a:r>
              <a:rPr lang="en-US" sz="1400" b="0" i="0" err="1">
                <a:solidFill>
                  <a:srgbClr val="000000"/>
                </a:solidFill>
                <a:effectLst/>
                <a:latin typeface="Calibri" panose="020F0502020204030204" pitchFamily="34" charset="0"/>
                <a:cs typeface="Calibri" panose="020F0502020204030204" pitchFamily="34" charset="0"/>
              </a:rPr>
              <a:t>the</a:t>
            </a:r>
            <a:r>
              <a:rPr lang="en-US" sz="1400" b="0" i="0">
                <a:solidFill>
                  <a:srgbClr val="000000"/>
                </a:solidFill>
                <a:effectLst/>
                <a:latin typeface="Calibri" panose="020F0502020204030204" pitchFamily="34" charset="0"/>
                <a:cs typeface="Calibri" panose="020F0502020204030204" pitchFamily="34" charset="0"/>
              </a:rPr>
              <a:t> same vein as least regression, partial derivatives of the cost function should be computed to undergo an interactive </a:t>
            </a:r>
            <a:r>
              <a:rPr lang="en-US" sz="1400" b="0" i="0" err="1">
                <a:solidFill>
                  <a:srgbClr val="000000"/>
                </a:solidFill>
                <a:effectLst/>
                <a:latin typeface="Calibri" panose="020F0502020204030204" pitchFamily="34" charset="0"/>
                <a:cs typeface="Calibri" panose="020F0502020204030204" pitchFamily="34" charset="0"/>
              </a:rPr>
              <a:t>optimisation</a:t>
            </a:r>
            <a:r>
              <a:rPr lang="en-US" sz="1400" b="0" i="0">
                <a:solidFill>
                  <a:srgbClr val="000000"/>
                </a:solidFill>
                <a:effectLst/>
                <a:latin typeface="Calibri" panose="020F0502020204030204" pitchFamily="34" charset="0"/>
                <a:cs typeface="Calibri" panose="020F0502020204030204" pitchFamily="34" charset="0"/>
              </a:rPr>
              <a:t> process using the gradient descent algorithm and similar variants.</a:t>
            </a:r>
          </a:p>
          <a:p>
            <a:pPr marL="76200" indent="0" algn="just">
              <a:buNone/>
            </a:pPr>
            <a:br>
              <a:rPr lang="en-US" sz="1400">
                <a:latin typeface="Calibri" panose="020F0502020204030204" pitchFamily="34" charset="0"/>
                <a:cs typeface="Calibri" panose="020F0502020204030204" pitchFamily="34" charset="0"/>
              </a:rPr>
            </a:br>
            <a:endPar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pic>
        <p:nvPicPr>
          <p:cNvPr id="4" name="Picture 3" descr="A picture containing text, clock, watch, gauge&#10;&#10;Description automatically generated">
            <a:extLst>
              <a:ext uri="{FF2B5EF4-FFF2-40B4-BE49-F238E27FC236}">
                <a16:creationId xmlns:a16="http://schemas.microsoft.com/office/drawing/2014/main" id="{F55A4113-07D9-A26C-445A-68A27AEDB3DD}"/>
              </a:ext>
            </a:extLst>
          </p:cNvPr>
          <p:cNvPicPr>
            <a:picLocks noChangeAspect="1"/>
          </p:cNvPicPr>
          <p:nvPr/>
        </p:nvPicPr>
        <p:blipFill>
          <a:blip r:embed="rId2"/>
          <a:stretch>
            <a:fillRect/>
          </a:stretch>
        </p:blipFill>
        <p:spPr>
          <a:xfrm>
            <a:off x="2529991" y="787634"/>
            <a:ext cx="3206785" cy="855932"/>
          </a:xfrm>
          <a:prstGeom prst="rect">
            <a:avLst/>
          </a:prstGeom>
        </p:spPr>
      </p:pic>
      <p:pic>
        <p:nvPicPr>
          <p:cNvPr id="7" name="Picture 6">
            <a:extLst>
              <a:ext uri="{FF2B5EF4-FFF2-40B4-BE49-F238E27FC236}">
                <a16:creationId xmlns:a16="http://schemas.microsoft.com/office/drawing/2014/main" id="{6F2899B9-2382-BAB0-1518-BB0968B9A672}"/>
              </a:ext>
            </a:extLst>
          </p:cNvPr>
          <p:cNvPicPr>
            <a:picLocks noChangeAspect="1"/>
          </p:cNvPicPr>
          <p:nvPr/>
        </p:nvPicPr>
        <p:blipFill>
          <a:blip r:embed="rId3"/>
          <a:stretch>
            <a:fillRect/>
          </a:stretch>
        </p:blipFill>
        <p:spPr>
          <a:xfrm>
            <a:off x="1685627" y="2282165"/>
            <a:ext cx="4895512" cy="579170"/>
          </a:xfrm>
          <a:prstGeom prst="rect">
            <a:avLst/>
          </a:prstGeom>
        </p:spPr>
      </p:pic>
    </p:spTree>
    <p:extLst>
      <p:ext uri="{BB962C8B-B14F-4D97-AF65-F5344CB8AC3E}">
        <p14:creationId xmlns:p14="http://schemas.microsoft.com/office/powerpoint/2010/main" val="2536886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11</a:t>
            </a:fld>
            <a:endParaRPr lang="en"/>
          </a:p>
        </p:txBody>
      </p:sp>
      <p:sp>
        <p:nvSpPr>
          <p:cNvPr id="3" name="Google Shape;3851;p15"/>
          <p:cNvSpPr txBox="1">
            <a:spLocks/>
          </p:cNvSpPr>
          <p:nvPr/>
        </p:nvSpPr>
        <p:spPr>
          <a:xfrm>
            <a:off x="91531" y="246580"/>
            <a:ext cx="7597422" cy="47527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ctr">
              <a:buNone/>
            </a:pPr>
            <a:r>
              <a:rPr lang="en-US" sz="1600" b="1" u="sng">
                <a:latin typeface="Times New Roman" panose="02020603050405020304" pitchFamily="18" charset="0"/>
                <a:ea typeface="Calibri" panose="020F0502020204030204" pitchFamily="34" charset="0"/>
                <a:cs typeface="Times New Roman" panose="02020603050405020304" pitchFamily="18" charset="0"/>
              </a:rPr>
              <a:t>PYTHON IMPLEMENTATION</a:t>
            </a: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Using a dataset ("</a:t>
            </a:r>
            <a:r>
              <a:rPr lang="en-US" sz="1400" b="1" i="0">
                <a:solidFill>
                  <a:srgbClr val="000000"/>
                </a:solidFill>
                <a:effectLst/>
                <a:latin typeface="Calibri" panose="020F0502020204030204" pitchFamily="34" charset="0"/>
                <a:cs typeface="Calibri" panose="020F0502020204030204" pitchFamily="34" charset="0"/>
              </a:rPr>
              <a:t>golf_session.csv</a:t>
            </a:r>
            <a:r>
              <a:rPr lang="en-US" sz="1400" b="0" i="0">
                <a:solidFill>
                  <a:srgbClr val="000000"/>
                </a:solidFill>
                <a:effectLst/>
                <a:latin typeface="Calibri" panose="020F0502020204030204" pitchFamily="34" charset="0"/>
                <a:cs typeface="Calibri" panose="020F0502020204030204" pitchFamily="34" charset="0"/>
              </a:rPr>
              <a:t>") of a team that has been playing golf for a couple of sessions. Make use of Naïve Bayes to decipher underlying conditions based on which the team decide to play.</a:t>
            </a:r>
          </a:p>
          <a:p>
            <a:pPr marL="76200" indent="0">
              <a:buNone/>
            </a:pPr>
            <a:br>
              <a:rPr lang="en-US" sz="1200"/>
            </a:br>
            <a:endParaRPr lang="en-GB" sz="1600" b="1" u="sng">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Text, letter&#10;&#10;Description automatically generated">
            <a:extLst>
              <a:ext uri="{FF2B5EF4-FFF2-40B4-BE49-F238E27FC236}">
                <a16:creationId xmlns:a16="http://schemas.microsoft.com/office/drawing/2014/main" id="{950B8BC3-1B1A-31FB-5B95-6228BB532D16}"/>
              </a:ext>
            </a:extLst>
          </p:cNvPr>
          <p:cNvPicPr>
            <a:picLocks noChangeAspect="1"/>
          </p:cNvPicPr>
          <p:nvPr/>
        </p:nvPicPr>
        <p:blipFill>
          <a:blip r:embed="rId2"/>
          <a:stretch>
            <a:fillRect/>
          </a:stretch>
        </p:blipFill>
        <p:spPr>
          <a:xfrm>
            <a:off x="1713475" y="1454009"/>
            <a:ext cx="4353533" cy="2562583"/>
          </a:xfrm>
          <a:prstGeom prst="rect">
            <a:avLst/>
          </a:prstGeom>
        </p:spPr>
      </p:pic>
    </p:spTree>
    <p:extLst>
      <p:ext uri="{BB962C8B-B14F-4D97-AF65-F5344CB8AC3E}">
        <p14:creationId xmlns:p14="http://schemas.microsoft.com/office/powerpoint/2010/main" val="755327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12</a:t>
            </a:fld>
            <a:endParaRPr lang="en"/>
          </a:p>
        </p:txBody>
      </p:sp>
      <p:sp>
        <p:nvSpPr>
          <p:cNvPr id="3" name="Google Shape;3851;p15"/>
          <p:cNvSpPr txBox="1">
            <a:spLocks/>
          </p:cNvSpPr>
          <p:nvPr/>
        </p:nvSpPr>
        <p:spPr>
          <a:xfrm>
            <a:off x="91531" y="246580"/>
            <a:ext cx="7597422" cy="47527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endParaRPr lang="en-GB" sz="1600" b="1" u="sng">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Text&#10;&#10;Description automatically generated">
            <a:extLst>
              <a:ext uri="{FF2B5EF4-FFF2-40B4-BE49-F238E27FC236}">
                <a16:creationId xmlns:a16="http://schemas.microsoft.com/office/drawing/2014/main" id="{F51ADAD9-0888-8DED-A24D-7B65C1DB8CC8}"/>
              </a:ext>
            </a:extLst>
          </p:cNvPr>
          <p:cNvPicPr>
            <a:picLocks noChangeAspect="1"/>
          </p:cNvPicPr>
          <p:nvPr/>
        </p:nvPicPr>
        <p:blipFill>
          <a:blip r:embed="rId2"/>
          <a:stretch>
            <a:fillRect/>
          </a:stretch>
        </p:blipFill>
        <p:spPr>
          <a:xfrm>
            <a:off x="1181721" y="237123"/>
            <a:ext cx="5411702" cy="4483078"/>
          </a:xfrm>
          <a:prstGeom prst="rect">
            <a:avLst/>
          </a:prstGeom>
        </p:spPr>
      </p:pic>
    </p:spTree>
    <p:extLst>
      <p:ext uri="{BB962C8B-B14F-4D97-AF65-F5344CB8AC3E}">
        <p14:creationId xmlns:p14="http://schemas.microsoft.com/office/powerpoint/2010/main" val="2738809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76"/>
        <p:cNvGrpSpPr/>
        <p:nvPr/>
      </p:nvGrpSpPr>
      <p:grpSpPr>
        <a:xfrm>
          <a:off x="0" y="0"/>
          <a:ext cx="0" cy="0"/>
          <a:chOff x="0" y="0"/>
          <a:chExt cx="0" cy="0"/>
        </a:xfrm>
      </p:grpSpPr>
      <p:sp>
        <p:nvSpPr>
          <p:cNvPr id="3877" name="Google Shape;3877;p19"/>
          <p:cNvSpPr txBox="1">
            <a:spLocks noGrp="1"/>
          </p:cNvSpPr>
          <p:nvPr>
            <p:ph type="ctrTitle" idx="4294967295"/>
          </p:nvPr>
        </p:nvSpPr>
        <p:spPr>
          <a:xfrm>
            <a:off x="189374" y="1475552"/>
            <a:ext cx="7383315" cy="215702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60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Feature Selection</a:t>
            </a:r>
            <a:br>
              <a:rPr lang="en-GB" sz="60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GB" sz="60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Models</a:t>
            </a:r>
            <a:endParaRPr sz="6000">
              <a:solidFill>
                <a:schemeClr val="bg1"/>
              </a:solidFill>
            </a:endParaRPr>
          </a:p>
        </p:txBody>
      </p:sp>
      <p:sp>
        <p:nvSpPr>
          <p:cNvPr id="3879" name="Google Shape;3879;p19"/>
          <p:cNvSpPr/>
          <p:nvPr/>
        </p:nvSpPr>
        <p:spPr>
          <a:xfrm>
            <a:off x="1117514" y="56247"/>
            <a:ext cx="270850" cy="25861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0" name="Google Shape;3880;p19"/>
          <p:cNvGrpSpPr/>
          <p:nvPr/>
        </p:nvGrpSpPr>
        <p:grpSpPr>
          <a:xfrm>
            <a:off x="504280" y="314864"/>
            <a:ext cx="1160371" cy="1160688"/>
            <a:chOff x="6654650" y="3665275"/>
            <a:chExt cx="409100" cy="409125"/>
          </a:xfrm>
        </p:grpSpPr>
        <p:sp>
          <p:nvSpPr>
            <p:cNvPr id="3881" name="Google Shape;3881;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8" name="Google Shape;3888;p19"/>
          <p:cNvSpPr/>
          <p:nvPr/>
        </p:nvSpPr>
        <p:spPr>
          <a:xfrm rot="2466991">
            <a:off x="1552305" y="917845"/>
            <a:ext cx="376301" cy="3593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9"/>
          <p:cNvSpPr/>
          <p:nvPr/>
        </p:nvSpPr>
        <p:spPr>
          <a:xfrm rot="-1609377">
            <a:off x="325617" y="409976"/>
            <a:ext cx="270839" cy="25860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9"/>
          <p:cNvSpPr/>
          <p:nvPr/>
        </p:nvSpPr>
        <p:spPr>
          <a:xfrm rot="2925705">
            <a:off x="1785691" y="358117"/>
            <a:ext cx="202799" cy="1936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9"/>
          <p:cNvSpPr/>
          <p:nvPr/>
        </p:nvSpPr>
        <p:spPr>
          <a:xfrm rot="-1609197">
            <a:off x="728531" y="1423656"/>
            <a:ext cx="182676" cy="1744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a:p>
        </p:txBody>
      </p:sp>
    </p:spTree>
    <p:extLst>
      <p:ext uri="{BB962C8B-B14F-4D97-AF65-F5344CB8AC3E}">
        <p14:creationId xmlns:p14="http://schemas.microsoft.com/office/powerpoint/2010/main" val="1687443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r>
              <a:rPr lang="en-US" sz="1400" b="0" i="0">
                <a:solidFill>
                  <a:srgbClr val="000000"/>
                </a:solidFill>
                <a:effectLst/>
                <a:latin typeface="Calibri" panose="020F0502020204030204" pitchFamily="34" charset="0"/>
                <a:cs typeface="Calibri" panose="020F0502020204030204" pitchFamily="34" charset="0"/>
              </a:rPr>
              <a:t>In the previous lessons, we learned that machine learning algorithms create a mapping relationship between the input feature vector and the output response variable, typically in the case of supervised learning methods. However, it is worth noting that all features in the initial feature vector are relevant to the prediction of the output response. Some features are relevant to predicting the final output and therefore need to be eliminated. This process is referred to as </a:t>
            </a:r>
            <a:r>
              <a:rPr lang="en-US" sz="1400" b="1" i="0">
                <a:solidFill>
                  <a:srgbClr val="000000"/>
                </a:solidFill>
                <a:effectLst/>
                <a:latin typeface="Calibri" panose="020F0502020204030204" pitchFamily="34" charset="0"/>
                <a:cs typeface="Calibri" panose="020F0502020204030204" pitchFamily="34" charset="0"/>
              </a:rPr>
              <a:t>feature selection</a:t>
            </a:r>
            <a:r>
              <a:rPr lang="en-US" sz="1400" b="0" i="0">
                <a:solidFill>
                  <a:srgbClr val="000000"/>
                </a:solidFill>
                <a:effectLst/>
                <a:latin typeface="Calibri" panose="020F0502020204030204" pitchFamily="34" charset="0"/>
                <a:cs typeface="Calibri" panose="020F0502020204030204" pitchFamily="34" charset="0"/>
              </a:rPr>
              <a:t>.</a:t>
            </a:r>
          </a:p>
          <a:p>
            <a:pPr marL="76200" indent="0" algn="ctr">
              <a:lnSpc>
                <a:spcPct val="115000"/>
              </a:lnSpc>
              <a:spcAft>
                <a:spcPts val="800"/>
              </a:spcAft>
              <a:buNone/>
            </a:pPr>
            <a:r>
              <a:rPr lang="en-US" sz="1400" b="1" i="1">
                <a:solidFill>
                  <a:srgbClr val="FF0000"/>
                </a:solidFill>
                <a:effectLst/>
                <a:latin typeface="Calibri" panose="020F0502020204030204" pitchFamily="34" charset="0"/>
                <a:cs typeface="Calibri" panose="020F0502020204030204" pitchFamily="34" charset="0"/>
              </a:rPr>
              <a:t>Feature selection</a:t>
            </a:r>
            <a:r>
              <a:rPr lang="en-US" sz="1400" b="0" i="1">
                <a:solidFill>
                  <a:srgbClr val="FF0000"/>
                </a:solidFill>
                <a:effectLst/>
                <a:latin typeface="Calibri" panose="020F0502020204030204" pitchFamily="34" charset="0"/>
                <a:cs typeface="Calibri" panose="020F0502020204030204" pitchFamily="34" charset="0"/>
              </a:rPr>
              <a:t> is the process of reducing the number of input variables when developing a predictive model.</a:t>
            </a:r>
          </a:p>
          <a:p>
            <a:pPr marL="76200" indent="0" algn="just">
              <a:lnSpc>
                <a:spcPct val="115000"/>
              </a:lnSpc>
              <a:spcAft>
                <a:spcPts val="800"/>
              </a:spcAft>
              <a:buNone/>
            </a:pPr>
            <a:endParaRPr lang="en-US" sz="140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Two big families of feature selection methods can be distinguished:</a:t>
            </a:r>
            <a:endParaRPr lang="en-US" sz="1400">
              <a:solidFill>
                <a:srgbClr val="000000"/>
              </a:solidFill>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1400" b="1" i="0">
                <a:solidFill>
                  <a:srgbClr val="000000"/>
                </a:solidFill>
                <a:effectLst/>
                <a:latin typeface="Calibri" panose="020F0502020204030204" pitchFamily="34" charset="0"/>
                <a:cs typeface="Calibri" panose="020F0502020204030204" pitchFamily="34" charset="0"/>
              </a:rPr>
              <a:t>Filter-based Methods: </a:t>
            </a:r>
            <a:r>
              <a:rPr lang="en-US" sz="1400" b="0" i="0">
                <a:solidFill>
                  <a:srgbClr val="000000"/>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1400" b="1" i="0">
                <a:solidFill>
                  <a:srgbClr val="000000"/>
                </a:solidFill>
                <a:effectLst/>
                <a:latin typeface="Calibri" panose="020F0502020204030204" pitchFamily="34" charset="0"/>
                <a:cs typeface="Calibri" panose="020F0502020204030204" pitchFamily="34" charset="0"/>
              </a:rPr>
              <a:t>Wrapper-based methods:</a:t>
            </a: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a:solidFill>
                <a:srgbClr val="000000"/>
              </a:solidFill>
              <a:latin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pic>
        <p:nvPicPr>
          <p:cNvPr id="3" name="Picture 2" descr="A picture containing chart&#10;&#10;Description automatically generated">
            <a:extLst>
              <a:ext uri="{FF2B5EF4-FFF2-40B4-BE49-F238E27FC236}">
                <a16:creationId xmlns:a16="http://schemas.microsoft.com/office/drawing/2014/main" id="{3EA5176B-1DC6-5E0B-9BD3-278BEAC943CB}"/>
              </a:ext>
            </a:extLst>
          </p:cNvPr>
          <p:cNvPicPr>
            <a:picLocks noChangeAspect="1"/>
          </p:cNvPicPr>
          <p:nvPr/>
        </p:nvPicPr>
        <p:blipFill>
          <a:blip r:embed="rId3"/>
          <a:stretch>
            <a:fillRect/>
          </a:stretch>
        </p:blipFill>
        <p:spPr>
          <a:xfrm>
            <a:off x="1377316" y="2379747"/>
            <a:ext cx="6389368" cy="13744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algn="just">
              <a:lnSpc>
                <a:spcPct val="115000"/>
              </a:lnSpc>
              <a:spcAft>
                <a:spcPts val="800"/>
              </a:spcAft>
            </a:pPr>
            <a:r>
              <a:rPr lang="en-US" sz="1400" b="0" i="0">
                <a:solidFill>
                  <a:srgbClr val="333333"/>
                </a:solidFill>
                <a:effectLst/>
                <a:latin typeface="Calibri" panose="020F0502020204030204" pitchFamily="34" charset="0"/>
                <a:cs typeface="Calibri" panose="020F0502020204030204" pitchFamily="34" charset="0"/>
              </a:rPr>
              <a:t>While developing the machine learning model, only a few variables in the dataset are useful for building the model, and the rest features are either redundant or irrelevant. If we input the dataset with all these redundant and irrelevant features, it may negatively impact and reduce the overall performance and accuracy of the model. Hence it is very important to identify and select the most appropriate features from the data and remove the irrelevant or less important features, which is done with the help of feature selection in machine learning.</a:t>
            </a:r>
            <a:r>
              <a:rPr lang="en-US" sz="1400" b="0" i="0">
                <a:solidFill>
                  <a:srgbClr val="555555"/>
                </a:solidFill>
                <a:effectLst/>
                <a:latin typeface="Calibri" panose="020F0502020204030204" pitchFamily="34" charset="0"/>
                <a:cs typeface="Calibri" panose="020F0502020204030204" pitchFamily="34" charset="0"/>
              </a:rPr>
              <a:t> (</a:t>
            </a:r>
            <a:r>
              <a:rPr lang="en-US" sz="1400" b="0" i="0" err="1">
                <a:solidFill>
                  <a:srgbClr val="555555"/>
                </a:solidFill>
                <a:effectLst/>
                <a:latin typeface="Calibri" panose="020F0502020204030204" pitchFamily="34" charset="0"/>
                <a:cs typeface="Calibri" panose="020F0502020204030204" pitchFamily="34" charset="0"/>
              </a:rPr>
              <a:t>Javapoint</a:t>
            </a:r>
            <a:r>
              <a:rPr lang="en-US" sz="1400" b="0" i="0">
                <a:solidFill>
                  <a:srgbClr val="555555"/>
                </a:solidFill>
                <a:effectLst/>
                <a:latin typeface="Calibri" panose="020F0502020204030204" pitchFamily="34" charset="0"/>
                <a:cs typeface="Calibri" panose="020F0502020204030204" pitchFamily="34" charset="0"/>
              </a:rPr>
              <a:t>)</a:t>
            </a:r>
            <a:endParaRPr lang="en-US" sz="1400">
              <a:solidFill>
                <a:srgbClr val="555555"/>
              </a:solidFill>
              <a:latin typeface="Calibri" panose="020F0502020204030204" pitchFamily="34" charset="0"/>
              <a:cs typeface="Calibri" panose="020F0502020204030204" pitchFamily="34" charset="0"/>
            </a:endParaRPr>
          </a:p>
          <a:p>
            <a:pPr algn="just">
              <a:lnSpc>
                <a:spcPct val="115000"/>
              </a:lnSpc>
              <a:spcAft>
                <a:spcPts val="800"/>
              </a:spcAft>
            </a:pPr>
            <a:r>
              <a:rPr lang="en-US" sz="1400">
                <a:solidFill>
                  <a:srgbClr val="555555"/>
                </a:solidFill>
                <a:latin typeface="Calibri" panose="020F0502020204030204" pitchFamily="34" charset="0"/>
                <a:cs typeface="Calibri" panose="020F0502020204030204" pitchFamily="34" charset="0"/>
              </a:rPr>
              <a:t>Feature selection</a:t>
            </a:r>
            <a:r>
              <a:rPr lang="en-US" sz="1400" b="0" i="0">
                <a:solidFill>
                  <a:srgbClr val="555555"/>
                </a:solidFill>
                <a:effectLst/>
                <a:latin typeface="Calibri" panose="020F0502020204030204" pitchFamily="34" charset="0"/>
                <a:cs typeface="Calibri" panose="020F0502020204030204" pitchFamily="34" charset="0"/>
              </a:rPr>
              <a:t> is desirable to reduce the number of input variables to both reduce the computational cost of modelling and, in some cases, to improve the performance of the model.</a:t>
            </a:r>
          </a:p>
          <a:p>
            <a:pPr algn="just">
              <a:lnSpc>
                <a:spcPct val="115000"/>
              </a:lnSpc>
              <a:spcAft>
                <a:spcPts val="800"/>
              </a:spcAft>
            </a:pPr>
            <a:r>
              <a:rPr lang="en-US" sz="1400" b="0" i="0">
                <a:solidFill>
                  <a:srgbClr val="555555"/>
                </a:solidFill>
                <a:effectLst/>
                <a:latin typeface="Calibri" panose="020F0502020204030204" pitchFamily="34" charset="0"/>
                <a:cs typeface="Calibri" panose="020F0502020204030204" pitchFamily="34" charset="0"/>
              </a:rPr>
              <a:t>Statistical-based feature selection methods involve evaluating the relationship between each input variable and the target variable using statistics and selecting those input variables that have the strongest relationship with the target variable. These methods can be fast and effective, although the choice of statistical measures depends on the data type of both the input and output variables.</a:t>
            </a:r>
            <a:endParaRPr lang="en-US" sz="1400">
              <a:solidFill>
                <a:srgbClr val="000000"/>
              </a:solidFill>
              <a:latin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15</a:t>
            </a:fld>
            <a:endParaRPr/>
          </a:p>
        </p:txBody>
      </p:sp>
    </p:spTree>
    <p:extLst>
      <p:ext uri="{BB962C8B-B14F-4D97-AF65-F5344CB8AC3E}">
        <p14:creationId xmlns:p14="http://schemas.microsoft.com/office/powerpoint/2010/main" val="994608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algn="just">
              <a:lnSpc>
                <a:spcPct val="115000"/>
              </a:lnSpc>
              <a:spcAft>
                <a:spcPts val="800"/>
              </a:spcAft>
            </a:pPr>
            <a:r>
              <a:rPr lang="en-US" sz="1400" b="1">
                <a:solidFill>
                  <a:srgbClr val="FF0000"/>
                </a:solidFill>
                <a:latin typeface="Calibri" panose="020F0502020204030204" pitchFamily="34" charset="0"/>
                <a:cs typeface="Calibri" panose="020F0502020204030204" pitchFamily="34" charset="0"/>
              </a:rPr>
              <a:t>RFE: Recursive Feature Elimination</a:t>
            </a:r>
          </a:p>
          <a:p>
            <a:pPr algn="just">
              <a:lnSpc>
                <a:spcPct val="115000"/>
              </a:lnSpc>
              <a:spcAft>
                <a:spcPts val="800"/>
              </a:spcAft>
            </a:pPr>
            <a:endParaRPr lang="en-US" sz="1400" b="1">
              <a:solidFill>
                <a:srgbClr val="FF0000"/>
              </a:solidFill>
              <a:latin typeface="Calibri" panose="020F0502020204030204" pitchFamily="34" charset="0"/>
              <a:cs typeface="Calibri" panose="020F0502020204030204" pitchFamily="34" charset="0"/>
            </a:endParaRPr>
          </a:p>
          <a:p>
            <a:pPr algn="just">
              <a:lnSpc>
                <a:spcPct val="115000"/>
              </a:lnSpc>
              <a:spcAft>
                <a:spcPts val="800"/>
              </a:spcAft>
            </a:pPr>
            <a:endParaRPr lang="en-US" sz="1400" b="1">
              <a:solidFill>
                <a:srgbClr val="FF0000"/>
              </a:solidFill>
              <a:latin typeface="Calibri" panose="020F0502020204030204" pitchFamily="34" charset="0"/>
              <a:cs typeface="Calibri" panose="020F0502020204030204" pitchFamily="34" charset="0"/>
            </a:endParaRPr>
          </a:p>
          <a:p>
            <a:pPr algn="just">
              <a:lnSpc>
                <a:spcPct val="115000"/>
              </a:lnSpc>
              <a:spcAft>
                <a:spcPts val="800"/>
              </a:spcAft>
            </a:pPr>
            <a:endParaRPr lang="en-US" sz="1400" b="1">
              <a:solidFill>
                <a:srgbClr val="FF0000"/>
              </a:solidFill>
              <a:latin typeface="Calibri" panose="020F0502020204030204" pitchFamily="34" charset="0"/>
              <a:cs typeface="Calibri" panose="020F0502020204030204" pitchFamily="34" charset="0"/>
            </a:endParaRPr>
          </a:p>
          <a:p>
            <a:pPr algn="just">
              <a:lnSpc>
                <a:spcPct val="115000"/>
              </a:lnSpc>
              <a:spcAft>
                <a:spcPts val="800"/>
              </a:spcAft>
            </a:pPr>
            <a:endParaRPr lang="en-US" sz="1400" b="1">
              <a:solidFill>
                <a:srgbClr val="FF0000"/>
              </a:solidFill>
              <a:latin typeface="Calibri" panose="020F0502020204030204" pitchFamily="34" charset="0"/>
              <a:cs typeface="Calibri" panose="020F0502020204030204" pitchFamily="34" charset="0"/>
            </a:endParaRPr>
          </a:p>
          <a:p>
            <a:pPr algn="just">
              <a:lnSpc>
                <a:spcPct val="115000"/>
              </a:lnSpc>
              <a:spcAft>
                <a:spcPts val="800"/>
              </a:spcAft>
            </a:pPr>
            <a:endParaRPr lang="en-US" sz="1400" b="1">
              <a:solidFill>
                <a:srgbClr val="FF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b="1">
              <a:solidFill>
                <a:srgbClr val="FF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a:solidFill>
                  <a:srgbClr val="333333"/>
                </a:solidFill>
                <a:latin typeface="Calibri" panose="020F0502020204030204" pitchFamily="34" charset="0"/>
                <a:cs typeface="Calibri" panose="020F0502020204030204" pitchFamily="34" charset="0"/>
              </a:rPr>
              <a:t>B</a:t>
            </a:r>
            <a:r>
              <a:rPr lang="en-US" sz="1400" b="0" i="0">
                <a:solidFill>
                  <a:srgbClr val="333333"/>
                </a:solidFill>
                <a:effectLst/>
                <a:latin typeface="Calibri" panose="020F0502020204030204" pitchFamily="34" charset="0"/>
                <a:cs typeface="Calibri" panose="020F0502020204030204" pitchFamily="34" charset="0"/>
              </a:rPr>
              <a:t>enefits of using feature selection in machine learning:</a:t>
            </a:r>
          </a:p>
          <a:p>
            <a:pPr algn="just">
              <a:buFont typeface="Arial" panose="020B0604020202020204" pitchFamily="34" charset="0"/>
              <a:buChar char="•"/>
            </a:pPr>
            <a:r>
              <a:rPr lang="en-US" sz="1400" i="0">
                <a:solidFill>
                  <a:srgbClr val="000000"/>
                </a:solidFill>
                <a:effectLst/>
                <a:latin typeface="Calibri" panose="020F0502020204030204" pitchFamily="34" charset="0"/>
                <a:cs typeface="Calibri" panose="020F0502020204030204" pitchFamily="34" charset="0"/>
              </a:rPr>
              <a:t>It helps in avoiding the curse of dimensionality.</a:t>
            </a:r>
          </a:p>
          <a:p>
            <a:pPr algn="just">
              <a:buFont typeface="Arial" panose="020B0604020202020204" pitchFamily="34" charset="0"/>
              <a:buChar char="•"/>
            </a:pPr>
            <a:r>
              <a:rPr lang="en-US" sz="1400" i="0">
                <a:solidFill>
                  <a:srgbClr val="000000"/>
                </a:solidFill>
                <a:effectLst/>
                <a:latin typeface="Calibri" panose="020F0502020204030204" pitchFamily="34" charset="0"/>
                <a:cs typeface="Calibri" panose="020F0502020204030204" pitchFamily="34" charset="0"/>
              </a:rPr>
              <a:t>It helps in the simplification of the model so that it can be easily interpreted by the researchers.</a:t>
            </a:r>
          </a:p>
          <a:p>
            <a:pPr algn="just">
              <a:buFont typeface="Arial" panose="020B0604020202020204" pitchFamily="34" charset="0"/>
              <a:buChar char="•"/>
            </a:pPr>
            <a:r>
              <a:rPr lang="en-US" sz="1400" i="0">
                <a:solidFill>
                  <a:srgbClr val="000000"/>
                </a:solidFill>
                <a:effectLst/>
                <a:latin typeface="Calibri" panose="020F0502020204030204" pitchFamily="34" charset="0"/>
                <a:cs typeface="Calibri" panose="020F0502020204030204" pitchFamily="34" charset="0"/>
              </a:rPr>
              <a:t>It reduces the training time.</a:t>
            </a:r>
          </a:p>
          <a:p>
            <a:pPr algn="just">
              <a:buFont typeface="Arial" panose="020B0604020202020204" pitchFamily="34" charset="0"/>
              <a:buChar char="•"/>
            </a:pPr>
            <a:r>
              <a:rPr lang="en-US" sz="1400" i="0">
                <a:solidFill>
                  <a:srgbClr val="000000"/>
                </a:solidFill>
                <a:effectLst/>
                <a:latin typeface="Calibri" panose="020F0502020204030204" pitchFamily="34" charset="0"/>
                <a:cs typeface="Calibri" panose="020F0502020204030204" pitchFamily="34" charset="0"/>
              </a:rPr>
              <a:t>It reduces overfitting and hence enhances the generalization. (</a:t>
            </a:r>
            <a:r>
              <a:rPr lang="en-US" sz="1400" i="0" err="1">
                <a:solidFill>
                  <a:srgbClr val="000000"/>
                </a:solidFill>
                <a:effectLst/>
                <a:latin typeface="Calibri" panose="020F0502020204030204" pitchFamily="34" charset="0"/>
                <a:cs typeface="Calibri" panose="020F0502020204030204" pitchFamily="34" charset="0"/>
              </a:rPr>
              <a:t>Javapoint</a:t>
            </a:r>
            <a:r>
              <a:rPr lang="en-US" sz="1400" i="0">
                <a:solidFill>
                  <a:srgbClr val="000000"/>
                </a:solidFill>
                <a:effectLst/>
                <a:latin typeface="Calibri" panose="020F0502020204030204" pitchFamily="34" charset="0"/>
                <a:cs typeface="Calibri" panose="020F0502020204030204" pitchFamily="34" charset="0"/>
              </a:rPr>
              <a:t>)</a:t>
            </a:r>
          </a:p>
          <a:p>
            <a:pPr marL="76200" indent="0" algn="just">
              <a:lnSpc>
                <a:spcPct val="115000"/>
              </a:lnSpc>
              <a:spcAft>
                <a:spcPts val="800"/>
              </a:spcAft>
              <a:buNone/>
            </a:pPr>
            <a:endParaRPr lang="en-US" sz="1400" b="1">
              <a:solidFill>
                <a:srgbClr val="FF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b="1">
              <a:solidFill>
                <a:srgbClr val="FF0000"/>
              </a:solidFill>
              <a:latin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16</a:t>
            </a:fld>
            <a:endParaRPr/>
          </a:p>
        </p:txBody>
      </p:sp>
      <p:pic>
        <p:nvPicPr>
          <p:cNvPr id="2" name="Picture 2" descr="Overview of Feature Selection Techniques">
            <a:extLst>
              <a:ext uri="{FF2B5EF4-FFF2-40B4-BE49-F238E27FC236}">
                <a16:creationId xmlns:a16="http://schemas.microsoft.com/office/drawing/2014/main" id="{C283ABCE-1A05-C9BA-BE00-B55B01606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3027" y="639336"/>
            <a:ext cx="3725863" cy="2317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783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marL="76200" indent="0" algn="ctr">
              <a:lnSpc>
                <a:spcPct val="115000"/>
              </a:lnSpc>
              <a:spcAft>
                <a:spcPts val="800"/>
              </a:spcAft>
              <a:buNone/>
            </a:pPr>
            <a:r>
              <a:rPr lang="en-US" sz="1400" b="1" u="sng">
                <a:solidFill>
                  <a:schemeClr val="accent6"/>
                </a:solidFill>
                <a:latin typeface="Times New Roman" panose="02020603050405020304" pitchFamily="18" charset="0"/>
                <a:cs typeface="Times New Roman" panose="02020603050405020304" pitchFamily="18" charset="0"/>
              </a:rPr>
              <a:t>FEATURE SELECTION TECHNIQUE</a:t>
            </a:r>
          </a:p>
          <a:p>
            <a:pPr marL="76200" indent="0" algn="just">
              <a:buNone/>
            </a:pPr>
            <a:r>
              <a:rPr lang="en-US" sz="1400" b="0" i="0">
                <a:solidFill>
                  <a:srgbClr val="333333"/>
                </a:solidFill>
                <a:effectLst/>
                <a:latin typeface="Calibri" panose="020F0502020204030204" pitchFamily="34" charset="0"/>
                <a:cs typeface="Calibri" panose="020F0502020204030204" pitchFamily="34" charset="0"/>
              </a:rPr>
              <a:t>There are mainly two types of Feature Selection techniques, which are:</a:t>
            </a:r>
          </a:p>
          <a:p>
            <a:pPr algn="just">
              <a:buFont typeface="Wingdings" panose="05000000000000000000" pitchFamily="2" charset="2"/>
              <a:buChar char="Ø"/>
            </a:pPr>
            <a:r>
              <a:rPr lang="en-US" sz="1400" b="1" i="0">
                <a:solidFill>
                  <a:srgbClr val="000000"/>
                </a:solidFill>
                <a:effectLst/>
                <a:latin typeface="Calibri" panose="020F0502020204030204" pitchFamily="34" charset="0"/>
                <a:cs typeface="Calibri" panose="020F0502020204030204" pitchFamily="34" charset="0"/>
              </a:rPr>
              <a:t>Supervised Feature Selection technique</a:t>
            </a:r>
            <a:r>
              <a:rPr lang="en-US" sz="1400">
                <a:solidFill>
                  <a:srgbClr val="000000"/>
                </a:solidFill>
                <a:latin typeface="Calibri" panose="020F0502020204030204" pitchFamily="34" charset="0"/>
                <a:cs typeface="Calibri" panose="020F0502020204030204" pitchFamily="34" charset="0"/>
              </a:rPr>
              <a:t> </a:t>
            </a:r>
            <a:r>
              <a:rPr lang="en-US" sz="1400" b="0" i="0">
                <a:solidFill>
                  <a:srgbClr val="000000"/>
                </a:solidFill>
                <a:effectLst/>
                <a:latin typeface="Calibri" panose="020F0502020204030204" pitchFamily="34" charset="0"/>
                <a:cs typeface="Calibri" panose="020F0502020204030204" pitchFamily="34" charset="0"/>
              </a:rPr>
              <a:t>Supervised Feature selection techniques consider the target variable and can be used for the labelled dataset.</a:t>
            </a:r>
          </a:p>
          <a:p>
            <a:pPr algn="just">
              <a:buFont typeface="Wingdings" panose="05000000000000000000" pitchFamily="2" charset="2"/>
              <a:buChar char="Ø"/>
            </a:pPr>
            <a:r>
              <a:rPr lang="en-US" sz="1400" b="1" i="0">
                <a:solidFill>
                  <a:srgbClr val="000000"/>
                </a:solidFill>
                <a:effectLst/>
                <a:latin typeface="Calibri" panose="020F0502020204030204" pitchFamily="34" charset="0"/>
                <a:cs typeface="Calibri" panose="020F0502020204030204" pitchFamily="34" charset="0"/>
              </a:rPr>
              <a:t>Unsupervised Feature Selection technique</a:t>
            </a:r>
            <a:r>
              <a:rPr lang="en-US" sz="1400">
                <a:solidFill>
                  <a:srgbClr val="000000"/>
                </a:solidFill>
                <a:latin typeface="Calibri" panose="020F0502020204030204" pitchFamily="34" charset="0"/>
                <a:cs typeface="Calibri" panose="020F0502020204030204" pitchFamily="34" charset="0"/>
              </a:rPr>
              <a:t> </a:t>
            </a:r>
            <a:r>
              <a:rPr lang="en-US" sz="1400" b="0" i="0">
                <a:solidFill>
                  <a:srgbClr val="000000"/>
                </a:solidFill>
                <a:effectLst/>
                <a:latin typeface="Calibri" panose="020F0502020204030204" pitchFamily="34" charset="0"/>
                <a:cs typeface="Calibri" panose="020F0502020204030204" pitchFamily="34" charset="0"/>
              </a:rPr>
              <a:t>Unsupervised Feature selection techniques ignore the target variable and can be used for the </a:t>
            </a:r>
            <a:r>
              <a:rPr lang="en-US" sz="1400" b="0" i="0" err="1">
                <a:solidFill>
                  <a:srgbClr val="000000"/>
                </a:solidFill>
                <a:effectLst/>
                <a:latin typeface="Calibri" panose="020F0502020204030204" pitchFamily="34" charset="0"/>
                <a:cs typeface="Calibri" panose="020F0502020204030204" pitchFamily="34" charset="0"/>
              </a:rPr>
              <a:t>unlabelled</a:t>
            </a:r>
            <a:r>
              <a:rPr lang="en-US" sz="1400" b="0" i="0">
                <a:solidFill>
                  <a:srgbClr val="000000"/>
                </a:solidFill>
                <a:effectLst/>
                <a:latin typeface="Calibri" panose="020F0502020204030204" pitchFamily="34" charset="0"/>
                <a:cs typeface="Calibri" panose="020F0502020204030204" pitchFamily="34" charset="0"/>
              </a:rPr>
              <a:t> dataset.</a:t>
            </a:r>
          </a:p>
          <a:p>
            <a:pPr marL="76200" indent="0">
              <a:lnSpc>
                <a:spcPct val="115000"/>
              </a:lnSpc>
              <a:spcAft>
                <a:spcPts val="800"/>
              </a:spcAft>
              <a:buNone/>
            </a:pPr>
            <a:endParaRPr lang="en-US" sz="1400" b="1" u="sng">
              <a:solidFill>
                <a:schemeClr val="accent6"/>
              </a:solidFill>
              <a:latin typeface="Times New Roman" panose="02020603050405020304" pitchFamily="18" charset="0"/>
              <a:cs typeface="Times New Roman" panose="02020603050405020304" pitchFamily="18"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pic>
        <p:nvPicPr>
          <p:cNvPr id="2050" name="Picture 2" descr="Feature Selection Techniques in Machine Learning">
            <a:extLst>
              <a:ext uri="{FF2B5EF4-FFF2-40B4-BE49-F238E27FC236}">
                <a16:creationId xmlns:a16="http://schemas.microsoft.com/office/drawing/2014/main" id="{23248189-70CD-0D18-0E18-C8031D341A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662" y="2157201"/>
            <a:ext cx="4135940" cy="275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02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18</a:t>
            </a:fld>
            <a:endParaRPr lang="en"/>
          </a:p>
        </p:txBody>
      </p:sp>
      <p:sp>
        <p:nvSpPr>
          <p:cNvPr id="3" name="Google Shape;3850;p15"/>
          <p:cNvSpPr txBox="1">
            <a:spLocks/>
          </p:cNvSpPr>
          <p:nvPr/>
        </p:nvSpPr>
        <p:spPr>
          <a:xfrm>
            <a:off x="485423" y="228684"/>
            <a:ext cx="6185725" cy="79860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GB" sz="3000" b="1">
                <a:latin typeface="Times New Roman" panose="02020603050405020304" pitchFamily="18" charset="0"/>
                <a:ea typeface="Calibri" panose="020F0502020204030204" pitchFamily="34" charset="0"/>
                <a:cs typeface="Times New Roman" panose="02020603050405020304" pitchFamily="18" charset="0"/>
              </a:rPr>
              <a:t>Wrapped Based Methods</a:t>
            </a:r>
            <a:endParaRPr lang="en-GB" sz="3000"/>
          </a:p>
        </p:txBody>
      </p:sp>
      <p:sp>
        <p:nvSpPr>
          <p:cNvPr id="6" name="Google Shape;3851;p15"/>
          <p:cNvSpPr txBox="1">
            <a:spLocks/>
          </p:cNvSpPr>
          <p:nvPr/>
        </p:nvSpPr>
        <p:spPr>
          <a:xfrm>
            <a:off x="91531" y="1027288"/>
            <a:ext cx="7597422" cy="381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In wrapper-based methods, the model is retraining several times using different feature vector combinations. The training and forecasting performance of each feature vector combination is kept in memory. The feature vector combination that yields the highest training and forecasting score is normally selected as the feature vector for the model. Other remaining attributes are disregarded.</a:t>
            </a: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For example, in a set of 3 features:</a:t>
            </a:r>
          </a:p>
          <a:p>
            <a:pPr marL="76200" indent="0" algn="jus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There are 3! = 6 possible independent combinations of features:</a:t>
            </a:r>
          </a:p>
          <a:p>
            <a:pPr marL="76200" indent="0" algn="jus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A wrapper method will typically, train the model with each independent feature combination and select the highest performant combination.</a:t>
            </a: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br>
              <a:rPr lang="en-US" sz="1400">
                <a:latin typeface="Calibri" panose="020F0502020204030204" pitchFamily="34" charset="0"/>
                <a:cs typeface="Calibri" panose="020F0502020204030204" pitchFamily="34" charset="0"/>
              </a:rPr>
            </a:br>
            <a:endParaRPr lang="en-GB" sz="1400" i="1">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Text&#10;&#10;Description automatically generated">
            <a:extLst>
              <a:ext uri="{FF2B5EF4-FFF2-40B4-BE49-F238E27FC236}">
                <a16:creationId xmlns:a16="http://schemas.microsoft.com/office/drawing/2014/main" id="{C2D82F14-BDCD-DD5E-E46C-C9FE53536DB1}"/>
              </a:ext>
            </a:extLst>
          </p:cNvPr>
          <p:cNvPicPr>
            <a:picLocks noChangeAspect="1"/>
          </p:cNvPicPr>
          <p:nvPr/>
        </p:nvPicPr>
        <p:blipFill>
          <a:blip r:embed="rId2"/>
          <a:stretch>
            <a:fillRect/>
          </a:stretch>
        </p:blipFill>
        <p:spPr>
          <a:xfrm>
            <a:off x="2850784" y="2448534"/>
            <a:ext cx="2078916" cy="323116"/>
          </a:xfrm>
          <a:prstGeom prst="rect">
            <a:avLst/>
          </a:prstGeom>
        </p:spPr>
      </p:pic>
      <p:pic>
        <p:nvPicPr>
          <p:cNvPr id="8" name="Picture 7">
            <a:extLst>
              <a:ext uri="{FF2B5EF4-FFF2-40B4-BE49-F238E27FC236}">
                <a16:creationId xmlns:a16="http://schemas.microsoft.com/office/drawing/2014/main" id="{9E4A8981-6380-6FFE-683C-720CCFD79433}"/>
              </a:ext>
            </a:extLst>
          </p:cNvPr>
          <p:cNvPicPr>
            <a:picLocks noChangeAspect="1"/>
          </p:cNvPicPr>
          <p:nvPr/>
        </p:nvPicPr>
        <p:blipFill>
          <a:blip r:embed="rId3"/>
          <a:stretch>
            <a:fillRect/>
          </a:stretch>
        </p:blipFill>
        <p:spPr>
          <a:xfrm>
            <a:off x="2256372" y="3269394"/>
            <a:ext cx="3267739" cy="371888"/>
          </a:xfrm>
          <a:prstGeom prst="rect">
            <a:avLst/>
          </a:prstGeom>
        </p:spPr>
      </p:pic>
    </p:spTree>
    <p:extLst>
      <p:ext uri="{BB962C8B-B14F-4D97-AF65-F5344CB8AC3E}">
        <p14:creationId xmlns:p14="http://schemas.microsoft.com/office/powerpoint/2010/main" val="2567870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705564"/>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endParaRPr lang="en-US" sz="1600">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600">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600">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600">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600">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b="0" i="0">
                <a:solidFill>
                  <a:srgbClr val="000000"/>
                </a:solidFill>
                <a:effectLst/>
                <a:latin typeface="Calibri" panose="020F0502020204030204" pitchFamily="34" charset="0"/>
                <a:cs typeface="Calibri" panose="020F0502020204030204" pitchFamily="34" charset="0"/>
              </a:rPr>
              <a:t>The main advantage of the wrapper-based is </a:t>
            </a:r>
          </a:p>
          <a:p>
            <a:pPr marL="76200" indent="0" algn="just">
              <a:lnSpc>
                <a:spcPct val="115000"/>
              </a:lnSpc>
              <a:spcAft>
                <a:spcPts val="800"/>
              </a:spcAft>
              <a:buNone/>
            </a:pPr>
            <a:r>
              <a:rPr lang="en-US" sz="1400" b="0" i="0">
                <a:solidFill>
                  <a:srgbClr val="FF0000"/>
                </a:solidFill>
                <a:effectLst/>
                <a:latin typeface="Calibri" panose="020F0502020204030204" pitchFamily="34" charset="0"/>
                <a:cs typeface="Calibri" panose="020F0502020204030204" pitchFamily="34" charset="0"/>
              </a:rPr>
              <a:t>its great accuracy in selecting the most pertinent feature set for the final model. </a:t>
            </a:r>
            <a:r>
              <a:rPr lang="en-US" sz="1400" b="0" i="0">
                <a:solidFill>
                  <a:srgbClr val="000000"/>
                </a:solidFill>
                <a:effectLst/>
                <a:latin typeface="Calibri" panose="020F0502020204030204" pitchFamily="34" charset="0"/>
                <a:cs typeface="Calibri" panose="020F0502020204030204" pitchFamily="34" charset="0"/>
              </a:rPr>
              <a:t>However, considering that the feature vector size can be large size, using the wrapper-based method is very computationally expensive. </a:t>
            </a:r>
            <a:endParaRPr lang="en-US" sz="140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b="0" i="0">
                <a:solidFill>
                  <a:srgbClr val="000000"/>
                </a:solidFill>
                <a:effectLst/>
                <a:latin typeface="Calibri" panose="020F0502020204030204" pitchFamily="34" charset="0"/>
                <a:cs typeface="Calibri" panose="020F0502020204030204" pitchFamily="34" charset="0"/>
              </a:rPr>
              <a:t>A mitigation strategy would be to use heuristic selection approaches of input feature combinations that can help provide decent performance without exhaustively searching through all the existing combinations. Algorithms like the Genetic Algorithm are not generally reducing the computation demand when using wrapped-based methods.</a:t>
            </a:r>
            <a:endParaRPr lang="en-US" sz="1400">
              <a:latin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19</a:t>
            </a:fld>
            <a:endParaRPr/>
          </a:p>
        </p:txBody>
      </p:sp>
      <p:pic>
        <p:nvPicPr>
          <p:cNvPr id="3" name="Picture 2" descr="Diagram&#10;&#10;Description automatically generated">
            <a:extLst>
              <a:ext uri="{FF2B5EF4-FFF2-40B4-BE49-F238E27FC236}">
                <a16:creationId xmlns:a16="http://schemas.microsoft.com/office/drawing/2014/main" id="{9B02436B-9A8F-1F74-8734-C0FA014AEB57}"/>
              </a:ext>
            </a:extLst>
          </p:cNvPr>
          <p:cNvPicPr>
            <a:picLocks noChangeAspect="1"/>
          </p:cNvPicPr>
          <p:nvPr/>
        </p:nvPicPr>
        <p:blipFill>
          <a:blip r:embed="rId3"/>
          <a:stretch>
            <a:fillRect/>
          </a:stretch>
        </p:blipFill>
        <p:spPr>
          <a:xfrm>
            <a:off x="519085" y="255069"/>
            <a:ext cx="4359018" cy="2316681"/>
          </a:xfrm>
          <a:prstGeom prst="rect">
            <a:avLst/>
          </a:prstGeom>
        </p:spPr>
      </p:pic>
      <p:pic>
        <p:nvPicPr>
          <p:cNvPr id="4098" name="Picture 2" descr="Feature Selection Techniques in Machine Learning">
            <a:extLst>
              <a:ext uri="{FF2B5EF4-FFF2-40B4-BE49-F238E27FC236}">
                <a16:creationId xmlns:a16="http://schemas.microsoft.com/office/drawing/2014/main" id="{82B4FDF1-ED33-2D85-8C43-D1C23EA6E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128" y="212097"/>
            <a:ext cx="2042230" cy="2402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725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20</a:t>
            </a:fld>
            <a:endParaRPr lang="en"/>
          </a:p>
        </p:txBody>
      </p:sp>
      <p:sp>
        <p:nvSpPr>
          <p:cNvPr id="3" name="Google Shape;3850;p15"/>
          <p:cNvSpPr txBox="1">
            <a:spLocks/>
          </p:cNvSpPr>
          <p:nvPr/>
        </p:nvSpPr>
        <p:spPr>
          <a:xfrm>
            <a:off x="485423" y="228684"/>
            <a:ext cx="6185725" cy="79860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GB" sz="3000" b="1">
                <a:latin typeface="Times New Roman" panose="02020603050405020304" pitchFamily="18" charset="0"/>
                <a:ea typeface="Calibri" panose="020F0502020204030204" pitchFamily="34" charset="0"/>
                <a:cs typeface="Times New Roman" panose="02020603050405020304" pitchFamily="18" charset="0"/>
              </a:rPr>
              <a:t>Filter Based Methods</a:t>
            </a:r>
            <a:endParaRPr lang="en-GB" sz="3000"/>
          </a:p>
        </p:txBody>
      </p:sp>
      <p:sp>
        <p:nvSpPr>
          <p:cNvPr id="6" name="Google Shape;3851;p15"/>
          <p:cNvSpPr txBox="1">
            <a:spLocks/>
          </p:cNvSpPr>
          <p:nvPr/>
        </p:nvSpPr>
        <p:spPr>
          <a:xfrm>
            <a:off x="91531" y="1027288"/>
            <a:ext cx="7597422" cy="381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Unlike wrapper-based methods, feature-based methods do not make use of the machine learning model when searching for the optimal feature set.  A ranking algorithm is used to </a:t>
            </a:r>
            <a:r>
              <a:rPr lang="en-US" sz="1400" b="0" i="0" err="1">
                <a:solidFill>
                  <a:srgbClr val="000000"/>
                </a:solidFill>
                <a:effectLst/>
                <a:latin typeface="Calibri" panose="020F0502020204030204" pitchFamily="34" charset="0"/>
                <a:cs typeface="Calibri" panose="020F0502020204030204" pitchFamily="34" charset="0"/>
              </a:rPr>
              <a:t>analyse</a:t>
            </a:r>
            <a:r>
              <a:rPr lang="en-US" sz="1400" b="0" i="0">
                <a:solidFill>
                  <a:srgbClr val="000000"/>
                </a:solidFill>
                <a:effectLst/>
                <a:latin typeface="Calibri" panose="020F0502020204030204" pitchFamily="34" charset="0"/>
                <a:cs typeface="Calibri" panose="020F0502020204030204" pitchFamily="34" charset="0"/>
              </a:rPr>
              <a:t> the contribution of each feature individually to the final outcome by looking at its information content using statistical methods or feature importance methods.</a:t>
            </a:r>
            <a:endParaRPr lang="en-GB" sz="1400" i="1">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Diagram&#10;&#10;Description automatically generated">
            <a:extLst>
              <a:ext uri="{FF2B5EF4-FFF2-40B4-BE49-F238E27FC236}">
                <a16:creationId xmlns:a16="http://schemas.microsoft.com/office/drawing/2014/main" id="{64FCD877-F3F0-B5F4-220E-54C97527DB8A}"/>
              </a:ext>
            </a:extLst>
          </p:cNvPr>
          <p:cNvPicPr>
            <a:picLocks noChangeAspect="1"/>
          </p:cNvPicPr>
          <p:nvPr/>
        </p:nvPicPr>
        <p:blipFill>
          <a:blip r:embed="rId2"/>
          <a:stretch>
            <a:fillRect/>
          </a:stretch>
        </p:blipFill>
        <p:spPr>
          <a:xfrm>
            <a:off x="485423" y="2391327"/>
            <a:ext cx="4578493" cy="2328874"/>
          </a:xfrm>
          <a:prstGeom prst="rect">
            <a:avLst/>
          </a:prstGeom>
        </p:spPr>
      </p:pic>
      <p:pic>
        <p:nvPicPr>
          <p:cNvPr id="5122" name="Picture 2" descr="Feature Selection Techniques in Machine Learning">
            <a:extLst>
              <a:ext uri="{FF2B5EF4-FFF2-40B4-BE49-F238E27FC236}">
                <a16:creationId xmlns:a16="http://schemas.microsoft.com/office/drawing/2014/main" id="{ED59D682-43E1-E2BF-7ADB-BBFB11A08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7808" y="2222671"/>
            <a:ext cx="2288323" cy="2692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906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705564"/>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r>
              <a:rPr lang="en-US" sz="1400" b="1" i="0">
                <a:solidFill>
                  <a:srgbClr val="000000"/>
                </a:solidFill>
                <a:effectLst/>
                <a:latin typeface="Calibri" panose="020F0502020204030204" pitchFamily="34" charset="0"/>
                <a:cs typeface="Calibri" panose="020F0502020204030204" pitchFamily="34" charset="0"/>
              </a:rPr>
              <a:t>Typically filter scores used when suggesting the information content of a feature input are:</a:t>
            </a:r>
          </a:p>
          <a:p>
            <a:pPr marL="76200" indent="0" algn="ctr">
              <a:lnSpc>
                <a:spcPct val="115000"/>
              </a:lnSpc>
              <a:spcAft>
                <a:spcPts val="800"/>
              </a:spcAft>
              <a:buNone/>
            </a:pPr>
            <a:r>
              <a:rPr lang="en-US" sz="1600" b="1" u="sng">
                <a:solidFill>
                  <a:srgbClr val="000000"/>
                </a:solidFill>
                <a:latin typeface="Times New Roman" panose="02020603050405020304" pitchFamily="18" charset="0"/>
                <a:cs typeface="Times New Roman" panose="02020603050405020304" pitchFamily="18" charset="0"/>
              </a:rPr>
              <a:t>PEARSON CORRELATION</a:t>
            </a:r>
          </a:p>
          <a:p>
            <a:pPr marL="76200" indent="0" algn="just">
              <a:lnSpc>
                <a:spcPct val="115000"/>
              </a:lnSpc>
              <a:spcAft>
                <a:spcPts val="800"/>
              </a:spcAft>
              <a:buNone/>
            </a:pPr>
            <a:r>
              <a:rPr lang="en-US" sz="1400" b="0" i="0">
                <a:solidFill>
                  <a:srgbClr val="000000"/>
                </a:solidFill>
                <a:effectLst/>
                <a:latin typeface="Calibri" panose="020F0502020204030204" pitchFamily="34" charset="0"/>
                <a:cs typeface="Calibri" panose="020F0502020204030204" pitchFamily="34" charset="0"/>
              </a:rPr>
              <a:t>The Pearson correlation coefficient evaluates the linear dependency between two continuous variables on a scale ranging between -1 to 1 or using an absolute estimate between 0 to 1. When a variable varies in proportion to another, technically the correlation measure will be either positively increasing or negatively decreasing depending on the nature of the dependency. Pearson correlation is often to rank continuous features against continuous target outputs:</a:t>
            </a:r>
            <a:endParaRPr lang="en-US" sz="1400" b="1" i="0" u="sng">
              <a:solidFill>
                <a:srgbClr val="000000"/>
              </a:solidFill>
              <a:effectLst/>
              <a:latin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pic>
        <p:nvPicPr>
          <p:cNvPr id="3" name="Picture 2" descr="Graphical user interface, text&#10;&#10;Description automatically generated">
            <a:extLst>
              <a:ext uri="{FF2B5EF4-FFF2-40B4-BE49-F238E27FC236}">
                <a16:creationId xmlns:a16="http://schemas.microsoft.com/office/drawing/2014/main" id="{547ADB99-1B2B-ED39-0B7F-ECE28BD2AAAC}"/>
              </a:ext>
            </a:extLst>
          </p:cNvPr>
          <p:cNvPicPr>
            <a:picLocks noChangeAspect="1"/>
          </p:cNvPicPr>
          <p:nvPr/>
        </p:nvPicPr>
        <p:blipFill>
          <a:blip r:embed="rId3"/>
          <a:stretch>
            <a:fillRect/>
          </a:stretch>
        </p:blipFill>
        <p:spPr>
          <a:xfrm>
            <a:off x="1456267" y="2831737"/>
            <a:ext cx="5730737" cy="1353429"/>
          </a:xfrm>
          <a:prstGeom prst="rect">
            <a:avLst/>
          </a:prstGeom>
        </p:spPr>
      </p:pic>
    </p:spTree>
    <p:extLst>
      <p:ext uri="{BB962C8B-B14F-4D97-AF65-F5344CB8AC3E}">
        <p14:creationId xmlns:p14="http://schemas.microsoft.com/office/powerpoint/2010/main" val="847566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63551"/>
            <a:ext cx="7596202" cy="4726948"/>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r>
              <a:rPr lang="en-US" sz="1400" b="0" i="0">
                <a:solidFill>
                  <a:srgbClr val="000000"/>
                </a:solidFill>
                <a:effectLst/>
                <a:latin typeface="Calibri" panose="020F0502020204030204" pitchFamily="34" charset="0"/>
                <a:cs typeface="Calibri" panose="020F0502020204030204" pitchFamily="34" charset="0"/>
              </a:rPr>
              <a:t>When ranking each feature, the square of the correlation coefficient is often used as the direction of correlation is not so consequential.</a:t>
            </a:r>
          </a:p>
          <a:p>
            <a:pPr marL="76200" indent="0" algn="just">
              <a:lnSpc>
                <a:spcPct val="115000"/>
              </a:lnSpc>
              <a:spcAft>
                <a:spcPts val="800"/>
              </a:spcAft>
              <a:buNone/>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ctr">
              <a:buNone/>
            </a:pPr>
            <a:r>
              <a:rPr lang="en-US" sz="1600" b="1" i="0" u="sng">
                <a:solidFill>
                  <a:srgbClr val="37474F"/>
                </a:solidFill>
                <a:effectLst/>
                <a:latin typeface="Times New Roman" panose="02020603050405020304" pitchFamily="18" charset="0"/>
                <a:cs typeface="Times New Roman" panose="02020603050405020304" pitchFamily="18" charset="0"/>
              </a:rPr>
              <a:t>INFORMATION GAIN AND MUTUAL INFORMATION</a:t>
            </a: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Mutual information is a dependency score that aims to assess the amount of information one variable has about another variable using a probabilistic formulation. It is often used to assess the dependence between continuous variables making no assumption of linearity as for the correlation measure:</a:t>
            </a:r>
          </a:p>
          <a:p>
            <a:pPr marL="76200" indent="0" algn="jus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endParaRPr lang="en-US" sz="1400" b="0" i="0">
              <a:solidFill>
                <a:srgbClr val="000000"/>
              </a:solidFill>
              <a:effectLst/>
              <a:latin typeface="Calibri" panose="020F0502020204030204" pitchFamily="34" charset="0"/>
              <a:cs typeface="Calibri" panose="020F0502020204030204" pitchFamily="34" charset="0"/>
            </a:endParaRPr>
          </a:p>
          <a:p>
            <a:pPr marL="76200" indent="0" algn="just">
              <a:buNone/>
            </a:pPr>
            <a:endParaRPr lang="en-US" sz="1400">
              <a:solidFill>
                <a:srgbClr val="000000"/>
              </a:solidFill>
              <a:latin typeface="Calibri" panose="020F0502020204030204" pitchFamily="34" charset="0"/>
              <a:cs typeface="Calibri" panose="020F0502020204030204" pitchFamily="34" charset="0"/>
            </a:endParaRP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The greater the value of mutual information, the higher the dependency between the two variables.</a:t>
            </a:r>
          </a:p>
          <a:p>
            <a:pPr marL="76200" indent="0" algn="just">
              <a:lnSpc>
                <a:spcPct val="115000"/>
              </a:lnSpc>
              <a:spcAft>
                <a:spcPts val="800"/>
              </a:spcAft>
              <a:buNone/>
            </a:pPr>
            <a:endParaRPr lang="en-GB"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22</a:t>
            </a:fld>
            <a:endParaRPr/>
          </a:p>
        </p:txBody>
      </p:sp>
      <p:pic>
        <p:nvPicPr>
          <p:cNvPr id="3" name="Picture 2" descr="Text&#10;&#10;Description automatically generated with low confidence">
            <a:extLst>
              <a:ext uri="{FF2B5EF4-FFF2-40B4-BE49-F238E27FC236}">
                <a16:creationId xmlns:a16="http://schemas.microsoft.com/office/drawing/2014/main" id="{B3132F1B-F162-19C1-2249-267AB6372F35}"/>
              </a:ext>
            </a:extLst>
          </p:cNvPr>
          <p:cNvPicPr>
            <a:picLocks noChangeAspect="1"/>
          </p:cNvPicPr>
          <p:nvPr/>
        </p:nvPicPr>
        <p:blipFill>
          <a:blip r:embed="rId3"/>
          <a:stretch>
            <a:fillRect/>
          </a:stretch>
        </p:blipFill>
        <p:spPr>
          <a:xfrm>
            <a:off x="2746533" y="906037"/>
            <a:ext cx="2286198" cy="402371"/>
          </a:xfrm>
          <a:prstGeom prst="rect">
            <a:avLst/>
          </a:prstGeom>
        </p:spPr>
      </p:pic>
      <p:pic>
        <p:nvPicPr>
          <p:cNvPr id="5" name="Picture 4" descr="Text, letter&#10;&#10;Description automatically generated">
            <a:extLst>
              <a:ext uri="{FF2B5EF4-FFF2-40B4-BE49-F238E27FC236}">
                <a16:creationId xmlns:a16="http://schemas.microsoft.com/office/drawing/2014/main" id="{9C083A6F-923A-D131-4D77-3E33C618C2BB}"/>
              </a:ext>
            </a:extLst>
          </p:cNvPr>
          <p:cNvPicPr>
            <a:picLocks noChangeAspect="1"/>
          </p:cNvPicPr>
          <p:nvPr/>
        </p:nvPicPr>
        <p:blipFill>
          <a:blip r:embed="rId4"/>
          <a:stretch>
            <a:fillRect/>
          </a:stretch>
        </p:blipFill>
        <p:spPr>
          <a:xfrm>
            <a:off x="1352189" y="2878736"/>
            <a:ext cx="5724640" cy="1036410"/>
          </a:xfrm>
          <a:prstGeom prst="rect">
            <a:avLst/>
          </a:prstGeom>
        </p:spPr>
      </p:pic>
    </p:spTree>
    <p:extLst>
      <p:ext uri="{BB962C8B-B14F-4D97-AF65-F5344CB8AC3E}">
        <p14:creationId xmlns:p14="http://schemas.microsoft.com/office/powerpoint/2010/main" val="1063257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34910"/>
            <a:ext cx="7596202" cy="4771627"/>
          </a:xfrm>
          <a:prstGeom prst="rect">
            <a:avLst/>
          </a:prstGeom>
        </p:spPr>
        <p:txBody>
          <a:bodyPr spcFirstLastPara="1" wrap="square" lIns="91425" tIns="91425" rIns="91425" bIns="91425" anchor="t" anchorCtr="0">
            <a:noAutofit/>
          </a:bodyPr>
          <a:lstStyle/>
          <a:p>
            <a:pPr marL="76200" indent="0" algn="ctr">
              <a:buNone/>
            </a:pPr>
            <a:r>
              <a:rPr lang="en-US" sz="1600" b="1" i="0" u="sng">
                <a:solidFill>
                  <a:srgbClr val="37474F"/>
                </a:solidFill>
                <a:effectLst/>
                <a:latin typeface="Times New Roman" panose="02020603050405020304" pitchFamily="18" charset="0"/>
                <a:cs typeface="Times New Roman" panose="02020603050405020304" pitchFamily="18" charset="0"/>
              </a:rPr>
              <a:t>CHI-SQUARE TEST</a:t>
            </a:r>
          </a:p>
          <a:p>
            <a:pPr marL="76200" indent="0" algn="just">
              <a:buNone/>
            </a:pPr>
            <a:r>
              <a:rPr lang="en-US" sz="1400" b="0" i="0">
                <a:solidFill>
                  <a:srgbClr val="000000"/>
                </a:solidFill>
                <a:effectLst/>
                <a:latin typeface="Calibri" panose="020F0502020204030204" pitchFamily="34" charset="0"/>
                <a:cs typeface="Calibri" panose="020F0502020204030204" pitchFamily="34" charset="0"/>
              </a:rPr>
              <a:t>The Chi-square is a statistical test that can be used to test if two categorical variables relate to each other.</a:t>
            </a:r>
          </a:p>
          <a:p>
            <a:pPr marL="76200" indent="0" algn="ctr">
              <a:buNone/>
            </a:pPr>
            <a:r>
              <a:rPr lang="en-US" sz="1400" b="0" i="0">
                <a:solidFill>
                  <a:srgbClr val="FF0000"/>
                </a:solidFill>
                <a:effectLst/>
                <a:latin typeface="Calibri" panose="020F0502020204030204" pitchFamily="34" charset="0"/>
                <a:cs typeface="Calibri" panose="020F0502020204030204" pitchFamily="34" charset="0"/>
              </a:rPr>
              <a:t>The Chi-square test is a technique to determine the relationship between the categorical variables. The chi-square value is calculated between each feature and the target variable, and the desired number of features with the best chi-square value is selected.</a:t>
            </a:r>
          </a:p>
          <a:p>
            <a:pPr marL="76200" indent="0">
              <a:buNone/>
            </a:pPr>
            <a:br>
              <a:rPr lang="en-US" sz="1200"/>
            </a:br>
            <a:endParaRPr lang="en-GB" sz="1400" b="1" u="sng">
              <a:effectLst/>
              <a:latin typeface="Calibri" panose="020F0502020204030204" pitchFamily="34" charset="0"/>
              <a:ea typeface="Calibri" panose="020F0502020204030204" pitchFamily="34" charset="0"/>
              <a:cs typeface="Calibri" panose="020F0502020204030204" pitchFamily="34"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23</a:t>
            </a:fld>
            <a:endParaRPr/>
          </a:p>
        </p:txBody>
      </p:sp>
    </p:spTree>
    <p:extLst>
      <p:ext uri="{BB962C8B-B14F-4D97-AF65-F5344CB8AC3E}">
        <p14:creationId xmlns:p14="http://schemas.microsoft.com/office/powerpoint/2010/main" val="3979038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58"/>
        <p:cNvGrpSpPr/>
        <p:nvPr/>
      </p:nvGrpSpPr>
      <p:grpSpPr>
        <a:xfrm>
          <a:off x="0" y="0"/>
          <a:ext cx="0" cy="0"/>
          <a:chOff x="0" y="0"/>
          <a:chExt cx="0" cy="0"/>
        </a:xfrm>
      </p:grpSpPr>
      <p:sp>
        <p:nvSpPr>
          <p:cNvPr id="4059" name="Google Shape;4059;p35"/>
          <p:cNvSpPr txBox="1">
            <a:spLocks noGrp="1"/>
          </p:cNvSpPr>
          <p:nvPr>
            <p:ph type="ctrTitle" idx="4294967295"/>
          </p:nvPr>
        </p:nvSpPr>
        <p:spPr>
          <a:xfrm>
            <a:off x="1025242" y="1611424"/>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b="1">
                <a:solidFill>
                  <a:srgbClr val="80BFB7"/>
                </a:solidFill>
              </a:rPr>
              <a:t>THANK 	YOU</a:t>
            </a:r>
            <a:endParaRPr sz="6000" b="1">
              <a:solidFill>
                <a:srgbClr val="80BFB7"/>
              </a:solidFill>
            </a:endParaRPr>
          </a:p>
        </p:txBody>
      </p:sp>
      <p:sp>
        <p:nvSpPr>
          <p:cNvPr id="4062" name="Google Shape;4062;p3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24</a:t>
            </a:fld>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26FC0B1471F5409FE935C2A1F55E80" ma:contentTypeVersion="6" ma:contentTypeDescription="Create a new document." ma:contentTypeScope="" ma:versionID="fd50d5a63e0295b8cf1aedb2a26bafb3">
  <xsd:schema xmlns:xsd="http://www.w3.org/2001/XMLSchema" xmlns:xs="http://www.w3.org/2001/XMLSchema" xmlns:p="http://schemas.microsoft.com/office/2006/metadata/properties" xmlns:ns2="e6f035a8-2a40-4905-932b-25c38010dd5e" xmlns:ns3="2bb2f49b-c2cf-485d-a07b-349e2280506a" targetNamespace="http://schemas.microsoft.com/office/2006/metadata/properties" ma:root="true" ma:fieldsID="080aeaedf3b84a67a336a7e00a8ea782" ns2:_="" ns3:_="">
    <xsd:import namespace="e6f035a8-2a40-4905-932b-25c38010dd5e"/>
    <xsd:import namespace="2bb2f49b-c2cf-485d-a07b-349e2280506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035a8-2a40-4905-932b-25c38010dd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b2f49b-c2cf-485d-a07b-349e2280506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D0415C-D398-4579-A1DD-ACC148578E5F}"/>
</file>

<file path=customXml/itemProps2.xml><?xml version="1.0" encoding="utf-8"?>
<ds:datastoreItem xmlns:ds="http://schemas.openxmlformats.org/officeDocument/2006/customXml" ds:itemID="{3FC1CC0D-1508-41EF-AE7F-D37921A647D1}">
  <ds:schemaRefs>
    <ds:schemaRef ds:uri="http://schemas.microsoft.com/sharepoint/v3/contenttype/forms"/>
  </ds:schemaRefs>
</ds:datastoreItem>
</file>

<file path=customXml/itemProps3.xml><?xml version="1.0" encoding="utf-8"?>
<ds:datastoreItem xmlns:ds="http://schemas.openxmlformats.org/officeDocument/2006/customXml" ds:itemID="{C9CF6795-3A90-4EFD-8AA6-592ED5EC9D7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24</Slides>
  <Notes>13</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Mowbray template</vt:lpstr>
      <vt:lpstr>MACHINE LEARNING  ALGORITHMS  Linear Classification using Logistic Regression and Feature Selection Method   ITMLA2-B44</vt:lpstr>
      <vt:lpstr>Contents Covered</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Selection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Idowu Aruleba</dc:creator>
  <cp:revision>1</cp:revision>
  <dcterms:modified xsi:type="dcterms:W3CDTF">2022-11-21T07:27:41Z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0x0101008026FC0B1471F5409FE935C2A1F55E80</vt:lpwstr>
  </property>
</Properties>
</file>